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Times New Roman Bold" charset="1" panose="02020803070505020304"/>
      <p:regular r:id="rId12"/>
    </p:embeddedFont>
    <p:embeddedFont>
      <p:font typeface="Garamond Bold" charset="1" panose="02020804030307010803"/>
      <p:regular r:id="rId13"/>
    </p:embeddedFont>
    <p:embeddedFont>
      <p:font typeface="Arial Bold" charset="1" panose="020B0704020202020204"/>
      <p:regular r:id="rId14"/>
    </p:embeddedFont>
    <p:embeddedFont>
      <p:font typeface="Times New Roman Bold Italics" charset="1" panose="02020703060505090304"/>
      <p:regular r:id="rId15"/>
    </p:embeddedFont>
    <p:embeddedFont>
      <p:font typeface="Arimo Bold" charset="1" panose="020B0704020202020204"/>
      <p:regular r:id="rId16"/>
    </p:embeddedFont>
    <p:embeddedFont>
      <p:font typeface="Arimo" charset="1" panose="020B0604020202020204"/>
      <p:regular r:id="rId17"/>
    </p:embeddedFont>
    <p:embeddedFont>
      <p:font typeface="Calibri (MS)" charset="1" panose="020F0502020204030204"/>
      <p:regular r:id="rId18"/>
    </p:embeddedFont>
    <p:embeddedFont>
      <p:font typeface="Arial" charset="1" panose="020B06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10.jpeg" Type="http://schemas.openxmlformats.org/officeDocument/2006/relationships/image"/><Relationship Id="rId5"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4.jpeg" Type="http://schemas.openxmlformats.org/officeDocument/2006/relationships/image"/><Relationship Id="rId3" Target="../media/image5.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https://github.com/reiabaid/SIH" TargetMode="External" Type="http://schemas.openxmlformats.org/officeDocument/2006/relationships/hyperlink"/><Relationship Id="rId8" Target="https://canva.link/ikn4r2c6glqn5mm" TargetMode="External" Type="http://schemas.openxmlformats.org/officeDocument/2006/relationships/hyperlink"/><Relationship Id="rId9" Target="https://data.lroc.im-ldi.com/lroc/search"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86995" y="1906609"/>
            <a:ext cx="6957908" cy="7732452"/>
          </a:xfrm>
          <a:custGeom>
            <a:avLst/>
            <a:gdLst/>
            <a:ahLst/>
            <a:cxnLst/>
            <a:rect r="r" b="b" t="t" l="l"/>
            <a:pathLst>
              <a:path h="7732452" w="6957908">
                <a:moveTo>
                  <a:pt x="0" y="0"/>
                </a:moveTo>
                <a:lnTo>
                  <a:pt x="6957908" y="0"/>
                </a:lnTo>
                <a:lnTo>
                  <a:pt x="6957908" y="7732452"/>
                </a:lnTo>
                <a:lnTo>
                  <a:pt x="0" y="77324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872248" y="3784058"/>
            <a:ext cx="4805267" cy="5139357"/>
            <a:chOff x="0" y="0"/>
            <a:chExt cx="6407023" cy="6852476"/>
          </a:xfrm>
        </p:grpSpPr>
        <p:sp>
          <p:nvSpPr>
            <p:cNvPr name="Freeform 4" id="4"/>
            <p:cNvSpPr/>
            <p:nvPr/>
          </p:nvSpPr>
          <p:spPr>
            <a:xfrm flipH="false" flipV="false" rot="0">
              <a:off x="0" y="0"/>
              <a:ext cx="6407023" cy="6852412"/>
            </a:xfrm>
            <a:custGeom>
              <a:avLst/>
              <a:gdLst/>
              <a:ahLst/>
              <a:cxnLst/>
              <a:rect r="r" b="b" t="t" l="l"/>
              <a:pathLst>
                <a:path h="6852412" w="6407023">
                  <a:moveTo>
                    <a:pt x="0" y="0"/>
                  </a:moveTo>
                  <a:lnTo>
                    <a:pt x="6407023" y="0"/>
                  </a:lnTo>
                  <a:lnTo>
                    <a:pt x="6407023" y="6852412"/>
                  </a:lnTo>
                  <a:lnTo>
                    <a:pt x="0" y="6852412"/>
                  </a:lnTo>
                  <a:lnTo>
                    <a:pt x="0" y="0"/>
                  </a:lnTo>
                  <a:close/>
                </a:path>
              </a:pathLst>
            </a:custGeom>
            <a:blipFill>
              <a:blip r:embed="rId4"/>
              <a:stretch>
                <a:fillRect l="0" t="0" r="-149475" b="-1"/>
              </a:stretch>
            </a:blipFill>
          </p:spPr>
        </p:sp>
      </p:grpSp>
      <p:sp>
        <p:nvSpPr>
          <p:cNvPr name="TextBox 5" id="5"/>
          <p:cNvSpPr txBox="true"/>
          <p:nvPr/>
        </p:nvSpPr>
        <p:spPr>
          <a:xfrm rot="0">
            <a:off x="1959969" y="990067"/>
            <a:ext cx="12618720" cy="2566035"/>
          </a:xfrm>
          <a:prstGeom prst="rect">
            <a:avLst/>
          </a:prstGeom>
        </p:spPr>
        <p:txBody>
          <a:bodyPr anchor="t" rtlCol="false" tIns="0" lIns="0" bIns="0" rIns="0">
            <a:spAutoFit/>
          </a:bodyPr>
          <a:lstStyle/>
          <a:p>
            <a:pPr algn="ctr">
              <a:lnSpc>
                <a:spcPts val="5759"/>
              </a:lnSpc>
            </a:pPr>
          </a:p>
          <a:p>
            <a:pPr algn="ctr">
              <a:lnSpc>
                <a:spcPts val="5759"/>
              </a:lnSpc>
            </a:pPr>
            <a:r>
              <a:rPr lang="en-US" sz="4800" b="true">
                <a:solidFill>
                  <a:srgbClr val="000000"/>
                </a:solidFill>
                <a:latin typeface="Times New Roman Bold"/>
                <a:ea typeface="Times New Roman Bold"/>
                <a:cs typeface="Times New Roman Bold"/>
                <a:sym typeface="Times New Roman Bold"/>
              </a:rPr>
              <a:t>TITLE PAGE</a:t>
            </a:r>
          </a:p>
        </p:txBody>
      </p:sp>
      <p:grpSp>
        <p:nvGrpSpPr>
          <p:cNvPr name="Group 6" id="6"/>
          <p:cNvGrpSpPr/>
          <p:nvPr/>
        </p:nvGrpSpPr>
        <p:grpSpPr>
          <a:xfrm rot="0">
            <a:off x="496929" y="-790137"/>
            <a:ext cx="15544800" cy="3114675"/>
            <a:chOff x="0" y="0"/>
            <a:chExt cx="20726400" cy="4152900"/>
          </a:xfrm>
        </p:grpSpPr>
        <p:sp>
          <p:nvSpPr>
            <p:cNvPr name="Freeform 7" id="7"/>
            <p:cNvSpPr/>
            <p:nvPr/>
          </p:nvSpPr>
          <p:spPr>
            <a:xfrm flipH="false" flipV="false" rot="0">
              <a:off x="0" y="0"/>
              <a:ext cx="20726400" cy="4152900"/>
            </a:xfrm>
            <a:custGeom>
              <a:avLst/>
              <a:gdLst/>
              <a:ahLst/>
              <a:cxnLst/>
              <a:rect r="r" b="b" t="t" l="l"/>
              <a:pathLst>
                <a:path h="4152900" w="20726400">
                  <a:moveTo>
                    <a:pt x="0" y="0"/>
                  </a:moveTo>
                  <a:lnTo>
                    <a:pt x="20726400" y="0"/>
                  </a:lnTo>
                  <a:lnTo>
                    <a:pt x="20726400" y="4152900"/>
                  </a:lnTo>
                  <a:lnTo>
                    <a:pt x="0" y="4152900"/>
                  </a:lnTo>
                  <a:close/>
                </a:path>
              </a:pathLst>
            </a:custGeom>
            <a:blipFill>
              <a:blip r:embed="rId5">
                <a:alphaModFix amt="0"/>
              </a:blip>
              <a:stretch>
                <a:fillRect l="0" t="-47246" r="0" b="-47246"/>
              </a:stretch>
            </a:blipFill>
          </p:spPr>
        </p:sp>
        <p:sp>
          <p:nvSpPr>
            <p:cNvPr name="TextBox 8" id="8"/>
            <p:cNvSpPr txBox="true"/>
            <p:nvPr/>
          </p:nvSpPr>
          <p:spPr>
            <a:xfrm>
              <a:off x="0" y="-19050"/>
              <a:ext cx="20726400" cy="4171950"/>
            </a:xfrm>
            <a:prstGeom prst="rect">
              <a:avLst/>
            </a:prstGeom>
          </p:spPr>
          <p:txBody>
            <a:bodyPr anchor="ctr" rtlCol="false" tIns="0" lIns="0" bIns="0" rIns="0"/>
            <a:lstStyle/>
            <a:p>
              <a:pPr algn="ctr">
                <a:lnSpc>
                  <a:spcPts val="7200"/>
                </a:lnSpc>
              </a:pPr>
              <a:r>
                <a:rPr lang="en-US" sz="6000" b="true">
                  <a:solidFill>
                    <a:srgbClr val="1F497D"/>
                  </a:solidFill>
                  <a:latin typeface="Garamond Bold"/>
                  <a:ea typeface="Garamond Bold"/>
                  <a:cs typeface="Garamond Bold"/>
                  <a:sym typeface="Garamond Bold"/>
                </a:rPr>
                <a:t>SMART INDIA HACKATHON 2026</a:t>
              </a:r>
            </a:p>
          </p:txBody>
        </p:sp>
      </p:grpSp>
      <p:sp>
        <p:nvSpPr>
          <p:cNvPr name="TextBox 9" id="9"/>
          <p:cNvSpPr txBox="true"/>
          <p:nvPr/>
        </p:nvSpPr>
        <p:spPr>
          <a:xfrm rot="0">
            <a:off x="496929" y="2788253"/>
            <a:ext cx="11647074" cy="6850808"/>
          </a:xfrm>
          <a:prstGeom prst="rect">
            <a:avLst/>
          </a:prstGeom>
        </p:spPr>
        <p:txBody>
          <a:bodyPr anchor="t" rtlCol="false" tIns="0" lIns="0" bIns="0" rIns="0">
            <a:spAutoFit/>
          </a:bodyPr>
          <a:lstStyle/>
          <a:p>
            <a:pPr algn="l">
              <a:lnSpc>
                <a:spcPts val="3263"/>
              </a:lnSpc>
            </a:pPr>
          </a:p>
          <a:p>
            <a:pPr algn="just" marL="492141" indent="-246071" lvl="1">
              <a:lnSpc>
                <a:spcPts val="6526"/>
              </a:lnSpc>
              <a:buFont typeface="Arial"/>
              <a:buChar char="•"/>
            </a:pPr>
            <a:r>
              <a:rPr lang="en-US" b="true" sz="2719" u="sng">
                <a:solidFill>
                  <a:srgbClr val="000000"/>
                </a:solidFill>
                <a:latin typeface="Arial Bold"/>
                <a:ea typeface="Arial Bold"/>
                <a:cs typeface="Arial Bold"/>
                <a:sym typeface="Arial Bold"/>
              </a:rPr>
              <a:t>Problem Statement ID</a:t>
            </a:r>
            <a:r>
              <a:rPr lang="en-US" b="true" sz="2719">
                <a:solidFill>
                  <a:srgbClr val="000000"/>
                </a:solidFill>
                <a:latin typeface="Arial Bold"/>
                <a:ea typeface="Arial Bold"/>
                <a:cs typeface="Arial Bold"/>
                <a:sym typeface="Arial Bold"/>
              </a:rPr>
              <a:t> - </a:t>
            </a:r>
            <a:r>
              <a:rPr lang="en-US" b="true" sz="2719">
                <a:solidFill>
                  <a:srgbClr val="FC9223"/>
                </a:solidFill>
                <a:latin typeface="Arial Bold"/>
                <a:ea typeface="Arial Bold"/>
                <a:cs typeface="Arial Bold"/>
                <a:sym typeface="Arial Bold"/>
              </a:rPr>
              <a:t>26166</a:t>
            </a:r>
          </a:p>
          <a:p>
            <a:pPr algn="just" marL="492141" indent="-246071" lvl="1">
              <a:lnSpc>
                <a:spcPts val="6526"/>
              </a:lnSpc>
              <a:buFont typeface="Arial"/>
              <a:buChar char="•"/>
            </a:pPr>
            <a:r>
              <a:rPr lang="en-US" b="true" sz="2719" u="sng">
                <a:solidFill>
                  <a:srgbClr val="000000"/>
                </a:solidFill>
                <a:latin typeface="Arial Bold"/>
                <a:ea typeface="Arial Bold"/>
                <a:cs typeface="Arial Bold"/>
                <a:sym typeface="Arial Bold"/>
              </a:rPr>
              <a:t>Problem Statement Title</a:t>
            </a:r>
            <a:r>
              <a:rPr lang="en-US" b="true" sz="2719">
                <a:solidFill>
                  <a:srgbClr val="000000"/>
                </a:solidFill>
                <a:latin typeface="Arial Bold"/>
                <a:ea typeface="Arial Bold"/>
                <a:cs typeface="Arial Bold"/>
                <a:sym typeface="Arial Bold"/>
              </a:rPr>
              <a:t> - </a:t>
            </a:r>
            <a:r>
              <a:rPr lang="en-US" b="true" sz="2719">
                <a:solidFill>
                  <a:srgbClr val="FC9223"/>
                </a:solidFill>
                <a:latin typeface="Arial Bold"/>
                <a:ea typeface="Arial Bold"/>
                <a:cs typeface="Arial Bold"/>
                <a:sym typeface="Arial Bold"/>
              </a:rPr>
              <a:t>Multi-modal, Sun angle and scale invariant image correspondence using Chandrayaan-2 optical images (OHRC, TMC and IIRS)</a:t>
            </a:r>
          </a:p>
          <a:p>
            <a:pPr algn="just" marL="492141" indent="-246071" lvl="1">
              <a:lnSpc>
                <a:spcPts val="6526"/>
              </a:lnSpc>
              <a:buFont typeface="Arial"/>
              <a:buChar char="•"/>
            </a:pPr>
            <a:r>
              <a:rPr lang="en-US" b="true" sz="2719" u="sng">
                <a:solidFill>
                  <a:srgbClr val="000000"/>
                </a:solidFill>
                <a:latin typeface="Arial Bold"/>
                <a:ea typeface="Arial Bold"/>
                <a:cs typeface="Arial Bold"/>
                <a:sym typeface="Arial Bold"/>
              </a:rPr>
              <a:t>Theme</a:t>
            </a:r>
            <a:r>
              <a:rPr lang="en-US" b="true" sz="2719">
                <a:solidFill>
                  <a:srgbClr val="000000"/>
                </a:solidFill>
                <a:latin typeface="Arial Bold"/>
                <a:ea typeface="Arial Bold"/>
                <a:cs typeface="Arial Bold"/>
                <a:sym typeface="Arial Bold"/>
              </a:rPr>
              <a:t> -</a:t>
            </a:r>
            <a:r>
              <a:rPr lang="en-US" b="true" sz="2719">
                <a:solidFill>
                  <a:srgbClr val="FC9223"/>
                </a:solidFill>
                <a:latin typeface="Arial Bold"/>
                <a:ea typeface="Arial Bold"/>
                <a:cs typeface="Arial Bold"/>
                <a:sym typeface="Arial Bold"/>
              </a:rPr>
              <a:t> Space Technology</a:t>
            </a:r>
          </a:p>
          <a:p>
            <a:pPr algn="just" marL="492141" indent="-246071" lvl="1">
              <a:lnSpc>
                <a:spcPts val="6526"/>
              </a:lnSpc>
              <a:buFont typeface="Arial"/>
              <a:buChar char="•"/>
            </a:pPr>
            <a:r>
              <a:rPr lang="en-US" b="true" sz="2719" u="sng">
                <a:solidFill>
                  <a:srgbClr val="000000"/>
                </a:solidFill>
                <a:latin typeface="Arial Bold"/>
                <a:ea typeface="Arial Bold"/>
                <a:cs typeface="Arial Bold"/>
                <a:sym typeface="Arial Bold"/>
              </a:rPr>
              <a:t>PS Category</a:t>
            </a:r>
            <a:r>
              <a:rPr lang="en-US" b="true" sz="2719">
                <a:solidFill>
                  <a:srgbClr val="000000"/>
                </a:solidFill>
                <a:latin typeface="Arial Bold"/>
                <a:ea typeface="Arial Bold"/>
                <a:cs typeface="Arial Bold"/>
                <a:sym typeface="Arial Bold"/>
              </a:rPr>
              <a:t>-</a:t>
            </a:r>
            <a:r>
              <a:rPr lang="en-US" b="true" sz="2719">
                <a:solidFill>
                  <a:srgbClr val="FC9223"/>
                </a:solidFill>
                <a:latin typeface="Arial Bold"/>
                <a:ea typeface="Arial Bold"/>
                <a:cs typeface="Arial Bold"/>
                <a:sym typeface="Arial Bold"/>
              </a:rPr>
              <a:t> Software</a:t>
            </a:r>
          </a:p>
          <a:p>
            <a:pPr algn="just" marL="492141" indent="-246071" lvl="1">
              <a:lnSpc>
                <a:spcPts val="6526"/>
              </a:lnSpc>
              <a:buFont typeface="Arial"/>
              <a:buChar char="•"/>
            </a:pPr>
            <a:r>
              <a:rPr lang="en-US" b="true" sz="2719" u="sng">
                <a:solidFill>
                  <a:srgbClr val="000000"/>
                </a:solidFill>
                <a:latin typeface="Arial Bold"/>
                <a:ea typeface="Arial Bold"/>
                <a:cs typeface="Arial Bold"/>
                <a:sym typeface="Arial Bold"/>
              </a:rPr>
              <a:t>Team ID</a:t>
            </a:r>
            <a:r>
              <a:rPr lang="en-US" b="true" sz="2719">
                <a:solidFill>
                  <a:srgbClr val="000000"/>
                </a:solidFill>
                <a:latin typeface="Arial Bold"/>
                <a:ea typeface="Arial Bold"/>
                <a:cs typeface="Arial Bold"/>
                <a:sym typeface="Arial Bold"/>
              </a:rPr>
              <a:t> - (not allotted till now)</a:t>
            </a:r>
          </a:p>
          <a:p>
            <a:pPr algn="just" marL="492141" indent="-246071" lvl="1">
              <a:lnSpc>
                <a:spcPts val="6526"/>
              </a:lnSpc>
              <a:buFont typeface="Arial"/>
              <a:buChar char="•"/>
            </a:pPr>
            <a:r>
              <a:rPr lang="en-US" b="true" sz="2719" u="sng">
                <a:solidFill>
                  <a:srgbClr val="000000"/>
                </a:solidFill>
                <a:latin typeface="Arial Bold"/>
                <a:ea typeface="Arial Bold"/>
                <a:cs typeface="Arial Bold"/>
                <a:sym typeface="Arial Bold"/>
              </a:rPr>
              <a:t>Team Name </a:t>
            </a:r>
            <a:r>
              <a:rPr lang="en-US" b="true" sz="2719">
                <a:solidFill>
                  <a:srgbClr val="000000"/>
                </a:solidFill>
                <a:latin typeface="Arial Bold"/>
                <a:ea typeface="Arial Bold"/>
                <a:cs typeface="Arial Bold"/>
                <a:sym typeface="Arial Bold"/>
              </a:rPr>
              <a:t>(Registered on portal) - </a:t>
            </a:r>
            <a:r>
              <a:rPr lang="en-US" b="true" sz="2719">
                <a:solidFill>
                  <a:srgbClr val="FC9223"/>
                </a:solidFill>
                <a:latin typeface="Arial Bold"/>
                <a:ea typeface="Arial Bold"/>
                <a:cs typeface="Arial Bold"/>
                <a:sym typeface="Arial Bold"/>
              </a:rPr>
              <a:t>Shevolution</a:t>
            </a:r>
          </a:p>
        </p:txBody>
      </p:sp>
      <p:grpSp>
        <p:nvGrpSpPr>
          <p:cNvPr name="Group 10" id="10"/>
          <p:cNvGrpSpPr/>
          <p:nvPr/>
        </p:nvGrpSpPr>
        <p:grpSpPr>
          <a:xfrm rot="0">
            <a:off x="14670129" y="2248"/>
            <a:ext cx="3374774" cy="1593504"/>
            <a:chOff x="0" y="0"/>
            <a:chExt cx="4499699" cy="2124672"/>
          </a:xfrm>
        </p:grpSpPr>
        <p:sp>
          <p:nvSpPr>
            <p:cNvPr name="Freeform 11" id="11"/>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6"/>
              <a:stretch>
                <a:fillRect l="0" t="0" r="0" b="1"/>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25000"/>
            <a:ext cx="18288000" cy="733425"/>
            <a:chOff x="0" y="0"/>
            <a:chExt cx="24384000" cy="977900"/>
          </a:xfrm>
        </p:grpSpPr>
        <p:sp>
          <p:nvSpPr>
            <p:cNvPr name="Freeform 3" id="3"/>
            <p:cNvSpPr/>
            <p:nvPr/>
          </p:nvSpPr>
          <p:spPr>
            <a:xfrm flipH="false" flipV="false" rot="0">
              <a:off x="0" y="0"/>
              <a:ext cx="24384000" cy="977900"/>
            </a:xfrm>
            <a:custGeom>
              <a:avLst/>
              <a:gdLst/>
              <a:ahLst/>
              <a:cxnLst/>
              <a:rect r="r" b="b" t="t" l="l"/>
              <a:pathLst>
                <a:path h="977900" w="24384000">
                  <a:moveTo>
                    <a:pt x="0" y="0"/>
                  </a:moveTo>
                  <a:lnTo>
                    <a:pt x="24384000" y="0"/>
                  </a:lnTo>
                  <a:lnTo>
                    <a:pt x="24384000" y="977900"/>
                  </a:lnTo>
                  <a:lnTo>
                    <a:pt x="0" y="977900"/>
                  </a:lnTo>
                  <a:close/>
                </a:path>
              </a:pathLst>
            </a:custGeom>
            <a:solidFill>
              <a:srgbClr val="0070C0"/>
            </a:solidFill>
          </p:spPr>
        </p:sp>
      </p:grpSp>
      <p:grpSp>
        <p:nvGrpSpPr>
          <p:cNvPr name="Group 4" id="4"/>
          <p:cNvGrpSpPr/>
          <p:nvPr/>
        </p:nvGrpSpPr>
        <p:grpSpPr>
          <a:xfrm rot="0">
            <a:off x="274501" y="0"/>
            <a:ext cx="16459200" cy="1961501"/>
            <a:chOff x="0" y="0"/>
            <a:chExt cx="21945600" cy="2615334"/>
          </a:xfrm>
        </p:grpSpPr>
        <p:sp>
          <p:nvSpPr>
            <p:cNvPr name="Freeform 5" id="5"/>
            <p:cNvSpPr/>
            <p:nvPr/>
          </p:nvSpPr>
          <p:spPr>
            <a:xfrm flipH="false" flipV="false" rot="0">
              <a:off x="0" y="0"/>
              <a:ext cx="21945600" cy="2615334"/>
            </a:xfrm>
            <a:custGeom>
              <a:avLst/>
              <a:gdLst/>
              <a:ahLst/>
              <a:cxnLst/>
              <a:rect r="r" b="b" t="t" l="l"/>
              <a:pathLst>
                <a:path h="2615334" w="21945600">
                  <a:moveTo>
                    <a:pt x="0" y="0"/>
                  </a:moveTo>
                  <a:lnTo>
                    <a:pt x="21945600" y="0"/>
                  </a:lnTo>
                  <a:lnTo>
                    <a:pt x="21945600" y="2615334"/>
                  </a:lnTo>
                  <a:lnTo>
                    <a:pt x="0" y="2615334"/>
                  </a:lnTo>
                  <a:close/>
                </a:path>
              </a:pathLst>
            </a:custGeom>
            <a:blipFill>
              <a:blip r:embed="rId2">
                <a:alphaModFix amt="0"/>
              </a:blip>
              <a:stretch>
                <a:fillRect l="0" t="-119797" r="0" b="-107205"/>
              </a:stretch>
            </a:blipFill>
          </p:spPr>
        </p:sp>
        <p:sp>
          <p:nvSpPr>
            <p:cNvPr name="TextBox 6" id="6"/>
            <p:cNvSpPr txBox="true"/>
            <p:nvPr/>
          </p:nvSpPr>
          <p:spPr>
            <a:xfrm>
              <a:off x="0" y="-28575"/>
              <a:ext cx="21945600" cy="2643909"/>
            </a:xfrm>
            <a:prstGeom prst="rect">
              <a:avLst/>
            </a:prstGeom>
          </p:spPr>
          <p:txBody>
            <a:bodyPr anchor="ctr" rtlCol="false" tIns="0" lIns="0" bIns="0" rIns="0"/>
            <a:lstStyle/>
            <a:p>
              <a:pPr algn="ctr">
                <a:lnSpc>
                  <a:spcPts val="4680"/>
                </a:lnSpc>
              </a:pPr>
              <a:r>
                <a:rPr lang="en-US" sz="3900" b="true">
                  <a:solidFill>
                    <a:srgbClr val="1F497D"/>
                  </a:solidFill>
                  <a:latin typeface="Times New Roman Bold"/>
                  <a:ea typeface="Times New Roman Bold"/>
                  <a:cs typeface="Times New Roman Bold"/>
                  <a:sym typeface="Times New Roman Bold"/>
                </a:rPr>
                <a:t>LUNARMATCH</a:t>
              </a:r>
            </a:p>
            <a:p>
              <a:pPr algn="ctr">
                <a:lnSpc>
                  <a:spcPts val="4680"/>
                </a:lnSpc>
              </a:pPr>
              <a:r>
                <a:rPr lang="en-US" b="true" sz="3900" i="true">
                  <a:solidFill>
                    <a:srgbClr val="1F497D"/>
                  </a:solidFill>
                  <a:latin typeface="Times New Roman Bold Italics"/>
                  <a:ea typeface="Times New Roman Bold Italics"/>
                  <a:cs typeface="Times New Roman Bold Italics"/>
                  <a:sym typeface="Times New Roman Bold Italics"/>
                </a:rPr>
                <a:t>Illumination-Robust Lunar Image Registration</a:t>
              </a:r>
            </a:p>
            <a:p>
              <a:pPr algn="ctr">
                <a:lnSpc>
                  <a:spcPts val="4680"/>
                </a:lnSpc>
              </a:pPr>
            </a:p>
          </p:txBody>
        </p:sp>
      </p:grpSp>
      <p:grpSp>
        <p:nvGrpSpPr>
          <p:cNvPr name="Group 7" id="7"/>
          <p:cNvGrpSpPr/>
          <p:nvPr/>
        </p:nvGrpSpPr>
        <p:grpSpPr>
          <a:xfrm rot="0">
            <a:off x="13106400" y="9534525"/>
            <a:ext cx="4267200" cy="547688"/>
            <a:chOff x="0" y="0"/>
            <a:chExt cx="5689600" cy="730250"/>
          </a:xfrm>
        </p:grpSpPr>
        <p:sp>
          <p:nvSpPr>
            <p:cNvPr name="Freeform 8" id="8"/>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2">
                <a:alphaModFix amt="0"/>
              </a:blip>
              <a:stretch>
                <a:fillRect l="0" t="-101813" r="0" b="-101813"/>
              </a:stretch>
            </a:blipFill>
          </p:spPr>
        </p:sp>
        <p:sp>
          <p:nvSpPr>
            <p:cNvPr name="TextBox 9" id="9"/>
            <p:cNvSpPr txBox="true"/>
            <p:nvPr/>
          </p:nvSpPr>
          <p:spPr>
            <a:xfrm>
              <a:off x="0" y="-19050"/>
              <a:ext cx="5689600" cy="749300"/>
            </a:xfrm>
            <a:prstGeom prst="rect">
              <a:avLst/>
            </a:prstGeom>
          </p:spPr>
          <p:txBody>
            <a:bodyPr anchor="ctr" rtlCol="false" tIns="0" lIns="0" bIns="0" rIns="0"/>
            <a:lstStyle/>
            <a:p>
              <a:pPr algn="r">
                <a:lnSpc>
                  <a:spcPts val="2160"/>
                </a:lnSpc>
              </a:pPr>
              <a:r>
                <a:rPr lang="en-US" sz="1800" b="true">
                  <a:solidFill>
                    <a:srgbClr val="FFFFFF"/>
                  </a:solidFill>
                  <a:latin typeface="Arimo Bold"/>
                  <a:ea typeface="Arimo Bold"/>
                  <a:cs typeface="Arimo Bold"/>
                  <a:sym typeface="Arimo Bold"/>
                </a:rPr>
                <a:t>2</a:t>
              </a:r>
            </a:p>
          </p:txBody>
        </p:sp>
      </p:grpSp>
      <p:grpSp>
        <p:nvGrpSpPr>
          <p:cNvPr name="Group 10" id="10"/>
          <p:cNvGrpSpPr/>
          <p:nvPr/>
        </p:nvGrpSpPr>
        <p:grpSpPr>
          <a:xfrm rot="0">
            <a:off x="6972300" y="9534525"/>
            <a:ext cx="4806001" cy="547688"/>
            <a:chOff x="0" y="0"/>
            <a:chExt cx="6408001" cy="730250"/>
          </a:xfrm>
        </p:grpSpPr>
        <p:sp>
          <p:nvSpPr>
            <p:cNvPr name="Freeform 11" id="11"/>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2">
                <a:alphaModFix amt="0"/>
              </a:blip>
              <a:stretch>
                <a:fillRect l="0" t="-120982" r="0" b="-120982"/>
              </a:stretch>
            </a:blipFill>
          </p:spPr>
        </p:sp>
        <p:sp>
          <p:nvSpPr>
            <p:cNvPr name="TextBox 12" id="12"/>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name="Group 13" id="13"/>
          <p:cNvGrpSpPr/>
          <p:nvPr/>
        </p:nvGrpSpPr>
        <p:grpSpPr>
          <a:xfrm rot="0">
            <a:off x="475612" y="359321"/>
            <a:ext cx="1915887" cy="1249101"/>
            <a:chOff x="0" y="0"/>
            <a:chExt cx="2554516" cy="1665468"/>
          </a:xfrm>
        </p:grpSpPr>
        <p:sp>
          <p:nvSpPr>
            <p:cNvPr name="Freeform 14" id="14" descr="Your startup LOGO"/>
            <p:cNvSpPr/>
            <p:nvPr/>
          </p:nvSpPr>
          <p:spPr>
            <a:xfrm flipH="false" flipV="false" rot="0">
              <a:off x="0" y="0"/>
              <a:ext cx="2554478" cy="1665481"/>
            </a:xfrm>
            <a:custGeom>
              <a:avLst/>
              <a:gdLst/>
              <a:ahLst/>
              <a:cxnLst/>
              <a:rect r="r" b="b" t="t" l="l"/>
              <a:pathLst>
                <a:path h="1665481" w="2554478">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name="TextBox 15" id="15"/>
            <p:cNvSpPr txBox="true"/>
            <p:nvPr/>
          </p:nvSpPr>
          <p:spPr>
            <a:xfrm>
              <a:off x="0" y="-57150"/>
              <a:ext cx="2554516" cy="1722618"/>
            </a:xfrm>
            <a:prstGeom prst="rect">
              <a:avLst/>
            </a:prstGeom>
          </p:spPr>
          <p:txBody>
            <a:bodyPr anchor="ctr" rtlCol="false" tIns="50800" lIns="50800" bIns="50800" rIns="50800"/>
            <a:lstStyle/>
            <a:p>
              <a:pPr algn="ctr">
                <a:lnSpc>
                  <a:spcPts val="3240"/>
                </a:lnSpc>
              </a:pPr>
              <a:r>
                <a:rPr lang="en-US" sz="2700">
                  <a:solidFill>
                    <a:srgbClr val="000000"/>
                  </a:solidFill>
                  <a:latin typeface="Calibri (MS)"/>
                  <a:ea typeface="Calibri (MS)"/>
                  <a:cs typeface="Calibri (MS)"/>
                  <a:sym typeface="Calibri (MS)"/>
                </a:rPr>
                <a:t>Shevolution</a:t>
              </a:r>
            </a:p>
          </p:txBody>
        </p:sp>
      </p:grpSp>
      <p:grpSp>
        <p:nvGrpSpPr>
          <p:cNvPr name="Group 16" id="16"/>
          <p:cNvGrpSpPr/>
          <p:nvPr/>
        </p:nvGrpSpPr>
        <p:grpSpPr>
          <a:xfrm rot="0">
            <a:off x="14670129" y="2248"/>
            <a:ext cx="3374774" cy="1593504"/>
            <a:chOff x="0" y="0"/>
            <a:chExt cx="4499699" cy="2124672"/>
          </a:xfrm>
        </p:grpSpPr>
        <p:sp>
          <p:nvSpPr>
            <p:cNvPr name="Freeform 17" id="17"/>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3"/>
              <a:stretch>
                <a:fillRect l="0" t="0" r="0" b="1"/>
              </a:stretch>
            </a:blipFill>
          </p:spPr>
        </p:sp>
      </p:grpSp>
      <p:grpSp>
        <p:nvGrpSpPr>
          <p:cNvPr name="Group 18" id="18"/>
          <p:cNvGrpSpPr/>
          <p:nvPr/>
        </p:nvGrpSpPr>
        <p:grpSpPr>
          <a:xfrm rot="0">
            <a:off x="480060" y="1892808"/>
            <a:ext cx="9956787" cy="535305"/>
            <a:chOff x="0" y="0"/>
            <a:chExt cx="12926107" cy="694944"/>
          </a:xfrm>
        </p:grpSpPr>
        <p:sp>
          <p:nvSpPr>
            <p:cNvPr name="Freeform 19" id="19"/>
            <p:cNvSpPr/>
            <p:nvPr/>
          </p:nvSpPr>
          <p:spPr>
            <a:xfrm flipH="false" flipV="false" rot="0">
              <a:off x="0" y="0"/>
              <a:ext cx="12926106" cy="694944"/>
            </a:xfrm>
            <a:custGeom>
              <a:avLst/>
              <a:gdLst/>
              <a:ahLst/>
              <a:cxnLst/>
              <a:rect r="r" b="b" t="t" l="l"/>
              <a:pathLst>
                <a:path h="694944" w="12926106">
                  <a:moveTo>
                    <a:pt x="0" y="128016"/>
                  </a:moveTo>
                  <a:cubicBezTo>
                    <a:pt x="0" y="57277"/>
                    <a:pt x="53621" y="0"/>
                    <a:pt x="119845" y="0"/>
                  </a:cubicBezTo>
                  <a:lnTo>
                    <a:pt x="12806262" y="0"/>
                  </a:lnTo>
                  <a:cubicBezTo>
                    <a:pt x="12872485" y="0"/>
                    <a:pt x="12926106" y="57277"/>
                    <a:pt x="12926106" y="128016"/>
                  </a:cubicBezTo>
                  <a:lnTo>
                    <a:pt x="12926106" y="566928"/>
                  </a:lnTo>
                  <a:cubicBezTo>
                    <a:pt x="12926106" y="637667"/>
                    <a:pt x="12872485" y="694944"/>
                    <a:pt x="12806262" y="694944"/>
                  </a:cubicBezTo>
                  <a:lnTo>
                    <a:pt x="119845" y="694944"/>
                  </a:lnTo>
                  <a:cubicBezTo>
                    <a:pt x="53621" y="694944"/>
                    <a:pt x="0" y="637667"/>
                    <a:pt x="0" y="566928"/>
                  </a:cubicBezTo>
                  <a:close/>
                </a:path>
              </a:pathLst>
            </a:custGeom>
            <a:solidFill>
              <a:srgbClr val="55606B"/>
            </a:solidFill>
          </p:spPr>
        </p:sp>
      </p:grpSp>
      <p:grpSp>
        <p:nvGrpSpPr>
          <p:cNvPr name="Group 20" id="20"/>
          <p:cNvGrpSpPr/>
          <p:nvPr/>
        </p:nvGrpSpPr>
        <p:grpSpPr>
          <a:xfrm rot="0">
            <a:off x="589788" y="1975104"/>
            <a:ext cx="356616" cy="356616"/>
            <a:chOff x="0" y="0"/>
            <a:chExt cx="475488" cy="475488"/>
          </a:xfrm>
        </p:grpSpPr>
        <p:sp>
          <p:nvSpPr>
            <p:cNvPr name="Freeform 21" id="21" descr="/tmp/outputs/deck_assets/warn_white.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4"/>
              <a:stretch>
                <a:fillRect l="0" t="0" r="0" b="0"/>
              </a:stretch>
            </a:blipFill>
          </p:spPr>
        </p:sp>
      </p:grpSp>
      <p:grpSp>
        <p:nvGrpSpPr>
          <p:cNvPr name="Group 22" id="22"/>
          <p:cNvGrpSpPr/>
          <p:nvPr/>
        </p:nvGrpSpPr>
        <p:grpSpPr>
          <a:xfrm rot="0">
            <a:off x="470535" y="2404491"/>
            <a:ext cx="9966312" cy="3294067"/>
            <a:chOff x="0" y="0"/>
            <a:chExt cx="7159212" cy="2366264"/>
          </a:xfrm>
        </p:grpSpPr>
        <p:sp>
          <p:nvSpPr>
            <p:cNvPr name="Freeform 23" id="23"/>
            <p:cNvSpPr/>
            <p:nvPr/>
          </p:nvSpPr>
          <p:spPr>
            <a:xfrm flipH="false" flipV="false" rot="0">
              <a:off x="0" y="0"/>
              <a:ext cx="7159212" cy="2366264"/>
            </a:xfrm>
            <a:custGeom>
              <a:avLst/>
              <a:gdLst/>
              <a:ahLst/>
              <a:cxnLst/>
              <a:rect r="r" b="b" t="t" l="l"/>
              <a:pathLst>
                <a:path h="2366264" w="7159212">
                  <a:moveTo>
                    <a:pt x="0" y="110871"/>
                  </a:moveTo>
                  <a:cubicBezTo>
                    <a:pt x="0" y="49657"/>
                    <a:pt x="25700" y="0"/>
                    <a:pt x="57381" y="0"/>
                  </a:cubicBezTo>
                  <a:lnTo>
                    <a:pt x="7101830" y="0"/>
                  </a:lnTo>
                  <a:cubicBezTo>
                    <a:pt x="7133513" y="0"/>
                    <a:pt x="7159212" y="49657"/>
                    <a:pt x="7159212" y="110871"/>
                  </a:cubicBezTo>
                  <a:lnTo>
                    <a:pt x="7159212" y="2255393"/>
                  </a:lnTo>
                  <a:cubicBezTo>
                    <a:pt x="7159212" y="2316607"/>
                    <a:pt x="7133513" y="2366264"/>
                    <a:pt x="7101830" y="2366264"/>
                  </a:cubicBezTo>
                  <a:lnTo>
                    <a:pt x="57381" y="2366264"/>
                  </a:lnTo>
                  <a:cubicBezTo>
                    <a:pt x="25700" y="2366264"/>
                    <a:pt x="0" y="2316607"/>
                    <a:pt x="0" y="2255393"/>
                  </a:cubicBezTo>
                  <a:close/>
                </a:path>
              </a:pathLst>
            </a:custGeom>
            <a:solidFill>
              <a:srgbClr val="EEF3FA"/>
            </a:solidFill>
            <a:ln w="19050" cap="sq">
              <a:solidFill>
                <a:srgbClr val="C9D3DE"/>
              </a:solidFill>
              <a:prstDash val="solid"/>
              <a:miter/>
            </a:ln>
          </p:spPr>
        </p:sp>
      </p:grpSp>
      <p:grpSp>
        <p:nvGrpSpPr>
          <p:cNvPr name="Group 24" id="24"/>
          <p:cNvGrpSpPr/>
          <p:nvPr/>
        </p:nvGrpSpPr>
        <p:grpSpPr>
          <a:xfrm rot="0">
            <a:off x="480060" y="5841433"/>
            <a:ext cx="9956787" cy="521208"/>
            <a:chOff x="0" y="0"/>
            <a:chExt cx="13275716" cy="694944"/>
          </a:xfrm>
        </p:grpSpPr>
        <p:sp>
          <p:nvSpPr>
            <p:cNvPr name="Freeform 25" id="25"/>
            <p:cNvSpPr/>
            <p:nvPr/>
          </p:nvSpPr>
          <p:spPr>
            <a:xfrm flipH="false" flipV="false" rot="0">
              <a:off x="0" y="0"/>
              <a:ext cx="13275715" cy="694944"/>
            </a:xfrm>
            <a:custGeom>
              <a:avLst/>
              <a:gdLst/>
              <a:ahLst/>
              <a:cxnLst/>
              <a:rect r="r" b="b" t="t" l="l"/>
              <a:pathLst>
                <a:path h="694944" w="13275715">
                  <a:moveTo>
                    <a:pt x="0" y="128016"/>
                  </a:moveTo>
                  <a:cubicBezTo>
                    <a:pt x="0" y="57277"/>
                    <a:pt x="55071" y="0"/>
                    <a:pt x="123086" y="0"/>
                  </a:cubicBezTo>
                  <a:lnTo>
                    <a:pt x="13152630" y="0"/>
                  </a:lnTo>
                  <a:cubicBezTo>
                    <a:pt x="13220644" y="0"/>
                    <a:pt x="13275715" y="57277"/>
                    <a:pt x="13275715" y="128016"/>
                  </a:cubicBezTo>
                  <a:lnTo>
                    <a:pt x="13275715" y="566928"/>
                  </a:lnTo>
                  <a:cubicBezTo>
                    <a:pt x="13275715" y="637667"/>
                    <a:pt x="13220644" y="694944"/>
                    <a:pt x="13152630" y="694944"/>
                  </a:cubicBezTo>
                  <a:lnTo>
                    <a:pt x="123086" y="694944"/>
                  </a:lnTo>
                  <a:cubicBezTo>
                    <a:pt x="55071" y="694944"/>
                    <a:pt x="0" y="637667"/>
                    <a:pt x="0" y="566928"/>
                  </a:cubicBezTo>
                  <a:close/>
                </a:path>
              </a:pathLst>
            </a:custGeom>
            <a:solidFill>
              <a:srgbClr val="1F7A54"/>
            </a:solidFill>
          </p:spPr>
        </p:sp>
      </p:grpSp>
      <p:grpSp>
        <p:nvGrpSpPr>
          <p:cNvPr name="Group 26" id="26"/>
          <p:cNvGrpSpPr/>
          <p:nvPr/>
        </p:nvGrpSpPr>
        <p:grpSpPr>
          <a:xfrm rot="0">
            <a:off x="589788" y="5923729"/>
            <a:ext cx="356616" cy="356616"/>
            <a:chOff x="0" y="0"/>
            <a:chExt cx="475488" cy="475488"/>
          </a:xfrm>
        </p:grpSpPr>
        <p:sp>
          <p:nvSpPr>
            <p:cNvPr name="Freeform 27" id="27" descr="/tmp/outputs/deck_assets/star_white.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5"/>
              <a:stretch>
                <a:fillRect l="0" t="0" r="0" b="0"/>
              </a:stretch>
            </a:blipFill>
          </p:spPr>
        </p:sp>
      </p:grpSp>
      <p:grpSp>
        <p:nvGrpSpPr>
          <p:cNvPr name="Group 28" id="28"/>
          <p:cNvGrpSpPr/>
          <p:nvPr/>
        </p:nvGrpSpPr>
        <p:grpSpPr>
          <a:xfrm rot="0">
            <a:off x="480060" y="6337495"/>
            <a:ext cx="9956787" cy="2920805"/>
            <a:chOff x="0" y="0"/>
            <a:chExt cx="9577471" cy="2809533"/>
          </a:xfrm>
        </p:grpSpPr>
        <p:sp>
          <p:nvSpPr>
            <p:cNvPr name="Freeform 29" id="29"/>
            <p:cNvSpPr/>
            <p:nvPr/>
          </p:nvSpPr>
          <p:spPr>
            <a:xfrm flipH="false" flipV="false" rot="0">
              <a:off x="0" y="0"/>
              <a:ext cx="9577470" cy="2809533"/>
            </a:xfrm>
            <a:custGeom>
              <a:avLst/>
              <a:gdLst/>
              <a:ahLst/>
              <a:cxnLst/>
              <a:rect r="r" b="b" t="t" l="l"/>
              <a:pathLst>
                <a:path h="2809533" w="9577470">
                  <a:moveTo>
                    <a:pt x="0" y="104008"/>
                  </a:moveTo>
                  <a:cubicBezTo>
                    <a:pt x="0" y="46571"/>
                    <a:pt x="34293" y="0"/>
                    <a:pt x="76588" y="0"/>
                  </a:cubicBezTo>
                  <a:lnTo>
                    <a:pt x="9500883" y="0"/>
                  </a:lnTo>
                  <a:cubicBezTo>
                    <a:pt x="9543178" y="0"/>
                    <a:pt x="9577470" y="46571"/>
                    <a:pt x="9577470" y="104008"/>
                  </a:cubicBezTo>
                  <a:lnTo>
                    <a:pt x="9577470" y="2705525"/>
                  </a:lnTo>
                  <a:cubicBezTo>
                    <a:pt x="9577470" y="2762962"/>
                    <a:pt x="9543178" y="2809533"/>
                    <a:pt x="9500883" y="2809533"/>
                  </a:cubicBezTo>
                  <a:lnTo>
                    <a:pt x="76588" y="2809533"/>
                  </a:lnTo>
                  <a:cubicBezTo>
                    <a:pt x="34293" y="2809533"/>
                    <a:pt x="0" y="2762962"/>
                    <a:pt x="0" y="2705525"/>
                  </a:cubicBezTo>
                  <a:close/>
                </a:path>
              </a:pathLst>
            </a:custGeom>
            <a:solidFill>
              <a:srgbClr val="EEF3FA"/>
            </a:solidFill>
            <a:ln w="19050" cap="sq">
              <a:solidFill>
                <a:srgbClr val="C9D3DE"/>
              </a:solidFill>
              <a:prstDash val="solid"/>
              <a:miter/>
            </a:ln>
          </p:spPr>
        </p:sp>
      </p:grpSp>
      <p:grpSp>
        <p:nvGrpSpPr>
          <p:cNvPr name="Group 30" id="30"/>
          <p:cNvGrpSpPr/>
          <p:nvPr/>
        </p:nvGrpSpPr>
        <p:grpSpPr>
          <a:xfrm rot="0">
            <a:off x="10680208" y="1892808"/>
            <a:ext cx="7364695" cy="521208"/>
            <a:chOff x="0" y="0"/>
            <a:chExt cx="9819593" cy="694944"/>
          </a:xfrm>
        </p:grpSpPr>
        <p:sp>
          <p:nvSpPr>
            <p:cNvPr name="Freeform 31" id="31"/>
            <p:cNvSpPr/>
            <p:nvPr/>
          </p:nvSpPr>
          <p:spPr>
            <a:xfrm flipH="false" flipV="false" rot="0">
              <a:off x="0" y="0"/>
              <a:ext cx="9819594" cy="694944"/>
            </a:xfrm>
            <a:custGeom>
              <a:avLst/>
              <a:gdLst/>
              <a:ahLst/>
              <a:cxnLst/>
              <a:rect r="r" b="b" t="t" l="l"/>
              <a:pathLst>
                <a:path h="694944" w="9819594">
                  <a:moveTo>
                    <a:pt x="0" y="128016"/>
                  </a:moveTo>
                  <a:cubicBezTo>
                    <a:pt x="0" y="57277"/>
                    <a:pt x="63674" y="0"/>
                    <a:pt x="142313" y="0"/>
                  </a:cubicBezTo>
                  <a:lnTo>
                    <a:pt x="9677280" y="0"/>
                  </a:lnTo>
                  <a:cubicBezTo>
                    <a:pt x="9755919" y="0"/>
                    <a:pt x="9819594" y="57277"/>
                    <a:pt x="9819594" y="128016"/>
                  </a:cubicBezTo>
                  <a:lnTo>
                    <a:pt x="9819594" y="566928"/>
                  </a:lnTo>
                  <a:cubicBezTo>
                    <a:pt x="9819594" y="637667"/>
                    <a:pt x="9755919" y="694944"/>
                    <a:pt x="9677280" y="694944"/>
                  </a:cubicBezTo>
                  <a:lnTo>
                    <a:pt x="142313" y="694944"/>
                  </a:lnTo>
                  <a:cubicBezTo>
                    <a:pt x="63674" y="694944"/>
                    <a:pt x="0" y="637667"/>
                    <a:pt x="0" y="566928"/>
                  </a:cubicBezTo>
                  <a:close/>
                </a:path>
              </a:pathLst>
            </a:custGeom>
            <a:solidFill>
              <a:srgbClr val="0B2545"/>
            </a:solidFill>
          </p:spPr>
        </p:sp>
      </p:grpSp>
      <p:grpSp>
        <p:nvGrpSpPr>
          <p:cNvPr name="Group 32" id="32"/>
          <p:cNvGrpSpPr/>
          <p:nvPr/>
        </p:nvGrpSpPr>
        <p:grpSpPr>
          <a:xfrm rot="0">
            <a:off x="10829708" y="1982152"/>
            <a:ext cx="356616" cy="356616"/>
            <a:chOff x="0" y="0"/>
            <a:chExt cx="475488" cy="475488"/>
          </a:xfrm>
        </p:grpSpPr>
        <p:sp>
          <p:nvSpPr>
            <p:cNvPr name="Freeform 33" id="33" descr="/tmp/outputs/deck_assets/bulb_white.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6"/>
              <a:stretch>
                <a:fillRect l="0" t="0" r="0" b="0"/>
              </a:stretch>
            </a:blipFill>
          </p:spPr>
        </p:sp>
      </p:grpSp>
      <p:sp>
        <p:nvSpPr>
          <p:cNvPr name="Freeform 34" id="34"/>
          <p:cNvSpPr/>
          <p:nvPr/>
        </p:nvSpPr>
        <p:spPr>
          <a:xfrm flipH="false" flipV="false" rot="0">
            <a:off x="10598772" y="2471166"/>
            <a:ext cx="7607792" cy="4278400"/>
          </a:xfrm>
          <a:custGeom>
            <a:avLst/>
            <a:gdLst/>
            <a:ahLst/>
            <a:cxnLst/>
            <a:rect r="r" b="b" t="t" l="l"/>
            <a:pathLst>
              <a:path h="4278400" w="7607792">
                <a:moveTo>
                  <a:pt x="0" y="0"/>
                </a:moveTo>
                <a:lnTo>
                  <a:pt x="7607792" y="0"/>
                </a:lnTo>
                <a:lnTo>
                  <a:pt x="7607792" y="4278400"/>
                </a:lnTo>
                <a:lnTo>
                  <a:pt x="0" y="4278400"/>
                </a:lnTo>
                <a:lnTo>
                  <a:pt x="0" y="0"/>
                </a:lnTo>
                <a:close/>
              </a:path>
            </a:pathLst>
          </a:custGeom>
          <a:blipFill>
            <a:blip r:embed="rId7"/>
            <a:stretch>
              <a:fillRect l="0" t="0" r="0" b="-1707"/>
            </a:stretch>
          </a:blipFill>
        </p:spPr>
      </p:sp>
      <p:sp>
        <p:nvSpPr>
          <p:cNvPr name="TextBox 35" id="35"/>
          <p:cNvSpPr txBox="true"/>
          <p:nvPr/>
        </p:nvSpPr>
        <p:spPr>
          <a:xfrm rot="0">
            <a:off x="1028700" y="2001012"/>
            <a:ext cx="2273498" cy="285750"/>
          </a:xfrm>
          <a:prstGeom prst="rect">
            <a:avLst/>
          </a:prstGeom>
        </p:spPr>
        <p:txBody>
          <a:bodyPr anchor="t" rtlCol="false" tIns="0" lIns="0" bIns="0" rIns="0">
            <a:spAutoFit/>
          </a:bodyPr>
          <a:lstStyle/>
          <a:p>
            <a:pPr algn="ctr">
              <a:lnSpc>
                <a:spcPts val="2160"/>
              </a:lnSpc>
              <a:spcBef>
                <a:spcPct val="0"/>
              </a:spcBef>
            </a:pPr>
            <a:r>
              <a:rPr lang="en-US" b="true" sz="1800">
                <a:solidFill>
                  <a:srgbClr val="FFFFFF"/>
                </a:solidFill>
                <a:latin typeface="Arimo Bold"/>
                <a:ea typeface="Arimo Bold"/>
                <a:cs typeface="Arimo Bold"/>
                <a:sym typeface="Arimo Bold"/>
              </a:rPr>
              <a:t>PROBLEM EXISTING</a:t>
            </a:r>
          </a:p>
        </p:txBody>
      </p:sp>
      <p:sp>
        <p:nvSpPr>
          <p:cNvPr name="TextBox 36" id="36"/>
          <p:cNvSpPr txBox="true"/>
          <p:nvPr/>
        </p:nvSpPr>
        <p:spPr>
          <a:xfrm rot="0">
            <a:off x="644909" y="2409063"/>
            <a:ext cx="9791938" cy="3150153"/>
          </a:xfrm>
          <a:prstGeom prst="rect">
            <a:avLst/>
          </a:prstGeom>
        </p:spPr>
        <p:txBody>
          <a:bodyPr anchor="t" rtlCol="false" tIns="0" lIns="0" bIns="0" rIns="0">
            <a:spAutoFit/>
          </a:bodyPr>
          <a:lstStyle/>
          <a:p>
            <a:pPr algn="l">
              <a:lnSpc>
                <a:spcPts val="1955"/>
              </a:lnSpc>
            </a:pPr>
            <a:r>
              <a:rPr lang="en-US" sz="1552" b="true">
                <a:solidFill>
                  <a:srgbClr val="0B2545"/>
                </a:solidFill>
                <a:latin typeface="Arial Bold"/>
                <a:ea typeface="Arial Bold"/>
                <a:cs typeface="Arial Bold"/>
                <a:sym typeface="Arial Bold"/>
              </a:rPr>
              <a:t>Same lunar region ≠ same appearance</a:t>
            </a:r>
          </a:p>
          <a:p>
            <a:pPr algn="l">
              <a:lnSpc>
                <a:spcPts val="1955"/>
              </a:lnSpc>
            </a:pPr>
            <a:r>
              <a:rPr lang="en-US" sz="1552">
                <a:solidFill>
                  <a:srgbClr val="0B2545"/>
                </a:solidFill>
                <a:latin typeface="Arial"/>
                <a:ea typeface="Arial"/>
                <a:cs typeface="Arial"/>
                <a:sym typeface="Arial"/>
              </a:rPr>
              <a:t>Matching Chandrayaan-2 images with lunar reference images is difficult because the same surface can appear very different due to:</a:t>
            </a:r>
          </a:p>
          <a:p>
            <a:pPr algn="l" marL="335119" indent="-167560" lvl="1">
              <a:lnSpc>
                <a:spcPts val="1955"/>
              </a:lnSpc>
              <a:buFont typeface="Arial"/>
              <a:buChar char="•"/>
            </a:pPr>
            <a:r>
              <a:rPr lang="en-US" b="true" sz="1552">
                <a:solidFill>
                  <a:srgbClr val="0B2545"/>
                </a:solidFill>
                <a:latin typeface="Arial Bold"/>
                <a:ea typeface="Arial Bold"/>
                <a:cs typeface="Arial Bold"/>
                <a:sym typeface="Arial Bold"/>
              </a:rPr>
              <a:t> Illumination Variation</a:t>
            </a:r>
          </a:p>
          <a:p>
            <a:pPr algn="l">
              <a:lnSpc>
                <a:spcPts val="1955"/>
              </a:lnSpc>
            </a:pPr>
            <a:r>
              <a:rPr lang="en-US" sz="1552">
                <a:solidFill>
                  <a:srgbClr val="0B2545"/>
                </a:solidFill>
                <a:latin typeface="Arial"/>
                <a:ea typeface="Arial"/>
                <a:cs typeface="Arial"/>
                <a:sym typeface="Arial"/>
              </a:rPr>
              <a:t>       Different Sun azimuth/elevation changes shadows and surface brightness, making corresponding features difficult to identify.</a:t>
            </a:r>
          </a:p>
          <a:p>
            <a:pPr algn="l" marL="335119" indent="-167560" lvl="1">
              <a:lnSpc>
                <a:spcPts val="1955"/>
              </a:lnSpc>
              <a:buFont typeface="Arial"/>
              <a:buChar char="•"/>
            </a:pPr>
            <a:r>
              <a:rPr lang="en-US" sz="1552">
                <a:solidFill>
                  <a:srgbClr val="0B2545"/>
                </a:solidFill>
                <a:latin typeface="Arial"/>
                <a:ea typeface="Arial"/>
                <a:cs typeface="Arial"/>
                <a:sym typeface="Arial"/>
              </a:rPr>
              <a:t> </a:t>
            </a:r>
            <a:r>
              <a:rPr lang="en-US" b="true" sz="1552">
                <a:solidFill>
                  <a:srgbClr val="0B2545"/>
                </a:solidFill>
                <a:latin typeface="Arial Bold"/>
                <a:ea typeface="Arial Bold"/>
                <a:cs typeface="Arial Bold"/>
                <a:sym typeface="Arial Bold"/>
              </a:rPr>
              <a:t>Viewpoint Variation</a:t>
            </a:r>
          </a:p>
          <a:p>
            <a:pPr algn="l">
              <a:lnSpc>
                <a:spcPts val="1955"/>
              </a:lnSpc>
            </a:pPr>
            <a:r>
              <a:rPr lang="en-US" sz="1552">
                <a:solidFill>
                  <a:srgbClr val="0B2545"/>
                </a:solidFill>
                <a:latin typeface="Arial"/>
                <a:ea typeface="Arial"/>
                <a:cs typeface="Arial"/>
                <a:sym typeface="Arial"/>
              </a:rPr>
              <a:t>       Different camera positions and orientations cause shifts, rotation, scaling and perspective distortions.</a:t>
            </a:r>
          </a:p>
          <a:p>
            <a:pPr algn="l" marL="335119" indent="-167560" lvl="1">
              <a:lnSpc>
                <a:spcPts val="1955"/>
              </a:lnSpc>
              <a:buFont typeface="Arial"/>
              <a:buChar char="•"/>
            </a:pPr>
            <a:r>
              <a:rPr lang="en-US" b="true" sz="1552">
                <a:solidFill>
                  <a:srgbClr val="0B2545"/>
                </a:solidFill>
                <a:latin typeface="Arial Bold"/>
                <a:ea typeface="Arial Bold"/>
                <a:cs typeface="Arial Bold"/>
                <a:sym typeface="Arial Bold"/>
              </a:rPr>
              <a:t> Scale Variation</a:t>
            </a:r>
          </a:p>
          <a:p>
            <a:pPr algn="l">
              <a:lnSpc>
                <a:spcPts val="1955"/>
              </a:lnSpc>
            </a:pPr>
            <a:r>
              <a:rPr lang="en-US" sz="1552">
                <a:solidFill>
                  <a:srgbClr val="0B2545"/>
                </a:solidFill>
                <a:latin typeface="Arial"/>
                <a:ea typeface="Arial"/>
                <a:cs typeface="Arial"/>
                <a:sym typeface="Arial"/>
              </a:rPr>
              <a:t>       Different missions operate at different altitudes and resolutions, creating a large scale difference between images.</a:t>
            </a:r>
          </a:p>
          <a:p>
            <a:pPr algn="l">
              <a:lnSpc>
                <a:spcPts val="1955"/>
              </a:lnSpc>
            </a:pPr>
            <a:r>
              <a:rPr lang="en-US" sz="1552" b="true">
                <a:solidFill>
                  <a:srgbClr val="0B2545"/>
                </a:solidFill>
                <a:latin typeface="Arial Bold"/>
                <a:ea typeface="Arial Bold"/>
                <a:cs typeface="Arial Bold"/>
                <a:sym typeface="Arial Bold"/>
              </a:rPr>
              <a:t>Manual identification of matching points is time-consuming, while conventional automated matching can fail under illumination, viewpoint and scale variations.</a:t>
            </a:r>
          </a:p>
        </p:txBody>
      </p:sp>
      <p:sp>
        <p:nvSpPr>
          <p:cNvPr name="TextBox 37" id="37"/>
          <p:cNvSpPr txBox="true"/>
          <p:nvPr/>
        </p:nvSpPr>
        <p:spPr>
          <a:xfrm rot="0">
            <a:off x="1104950" y="5949637"/>
            <a:ext cx="4030663" cy="285750"/>
          </a:xfrm>
          <a:prstGeom prst="rect">
            <a:avLst/>
          </a:prstGeom>
        </p:spPr>
        <p:txBody>
          <a:bodyPr anchor="t" rtlCol="false" tIns="0" lIns="0" bIns="0" rIns="0">
            <a:spAutoFit/>
          </a:bodyPr>
          <a:lstStyle/>
          <a:p>
            <a:pPr algn="ctr">
              <a:lnSpc>
                <a:spcPts val="2160"/>
              </a:lnSpc>
              <a:spcBef>
                <a:spcPct val="0"/>
              </a:spcBef>
            </a:pPr>
            <a:r>
              <a:rPr lang="en-US" b="true" sz="1800">
                <a:solidFill>
                  <a:srgbClr val="FFFFFF"/>
                </a:solidFill>
                <a:latin typeface="Arimo Bold"/>
                <a:ea typeface="Arimo Bold"/>
                <a:cs typeface="Arimo Bold"/>
                <a:sym typeface="Arimo Bold"/>
              </a:rPr>
              <a:t>UVP - UNIQUE VALUE PROPOSITION</a:t>
            </a:r>
          </a:p>
        </p:txBody>
      </p:sp>
      <p:sp>
        <p:nvSpPr>
          <p:cNvPr name="TextBox 38" id="38"/>
          <p:cNvSpPr txBox="true"/>
          <p:nvPr/>
        </p:nvSpPr>
        <p:spPr>
          <a:xfrm rot="0">
            <a:off x="589788" y="6352963"/>
            <a:ext cx="9691282" cy="2748904"/>
          </a:xfrm>
          <a:prstGeom prst="rect">
            <a:avLst/>
          </a:prstGeom>
        </p:spPr>
        <p:txBody>
          <a:bodyPr anchor="t" rtlCol="false" tIns="0" lIns="0" bIns="0" rIns="0">
            <a:spAutoFit/>
          </a:bodyPr>
          <a:lstStyle/>
          <a:p>
            <a:pPr algn="l" marL="316979" indent="-158489" lvl="1">
              <a:lnSpc>
                <a:spcPts val="2206"/>
              </a:lnSpc>
              <a:buFont typeface="Arial"/>
              <a:buChar char="•"/>
            </a:pPr>
            <a:r>
              <a:rPr lang="en-US" b="true" sz="1751">
                <a:solidFill>
                  <a:srgbClr val="0B2545"/>
                </a:solidFill>
                <a:latin typeface="Arial Bold"/>
                <a:ea typeface="Arial Bold"/>
                <a:cs typeface="Arial Bold"/>
                <a:sym typeface="Arial Bold"/>
              </a:rPr>
              <a:t>Unique Sun-Angle Simulator -</a:t>
            </a:r>
            <a:r>
              <a:rPr lang="en-US" sz="1751">
                <a:solidFill>
                  <a:srgbClr val="0B2545"/>
                </a:solidFill>
                <a:latin typeface="Arial"/>
                <a:ea typeface="Arial"/>
                <a:cs typeface="Arial"/>
                <a:sym typeface="Arial"/>
              </a:rPr>
              <a:t> simulate different Sun azimuth &amp; elevation conditions on the same lunar terrain.</a:t>
            </a:r>
          </a:p>
          <a:p>
            <a:pPr algn="l" marL="316979" indent="-158489" lvl="1">
              <a:lnSpc>
                <a:spcPts val="2206"/>
              </a:lnSpc>
              <a:buFont typeface="Arial"/>
              <a:buChar char="•"/>
            </a:pPr>
            <a:r>
              <a:rPr lang="en-US" b="true" sz="1751">
                <a:solidFill>
                  <a:srgbClr val="0B2545"/>
                </a:solidFill>
                <a:latin typeface="Arial Bold"/>
                <a:ea typeface="Arial Bold"/>
                <a:cs typeface="Arial Bold"/>
                <a:sym typeface="Arial Bold"/>
              </a:rPr>
              <a:t>Edge/Gradient-Based Matching</a:t>
            </a:r>
            <a:r>
              <a:rPr lang="en-US" sz="1751">
                <a:solidFill>
                  <a:srgbClr val="0B2545"/>
                </a:solidFill>
                <a:latin typeface="Arial"/>
                <a:ea typeface="Arial"/>
                <a:cs typeface="Arial"/>
                <a:sym typeface="Arial"/>
              </a:rPr>
              <a:t> - reduce the effect of illumination and shadow changes.</a:t>
            </a:r>
          </a:p>
          <a:p>
            <a:pPr algn="l" marL="316979" indent="-158489" lvl="1">
              <a:lnSpc>
                <a:spcPts val="2206"/>
              </a:lnSpc>
              <a:buFont typeface="Arial"/>
              <a:buChar char="•"/>
            </a:pPr>
            <a:r>
              <a:rPr lang="en-US" b="true" sz="1751">
                <a:solidFill>
                  <a:srgbClr val="0B2545"/>
                </a:solidFill>
                <a:latin typeface="Arial Bold"/>
                <a:ea typeface="Arial Bold"/>
                <a:cs typeface="Arial Bold"/>
                <a:sym typeface="Arial Bold"/>
              </a:rPr>
              <a:t>Automatic Scale Alignment</a:t>
            </a:r>
            <a:r>
              <a:rPr lang="en-US" sz="1751">
                <a:solidFill>
                  <a:srgbClr val="0B2545"/>
                </a:solidFill>
                <a:latin typeface="Arial"/>
                <a:ea typeface="Arial"/>
                <a:cs typeface="Arial"/>
                <a:sym typeface="Arial"/>
              </a:rPr>
              <a:t> - bring Chandrayaan-2 and LRO images to a common scale before matching.</a:t>
            </a:r>
          </a:p>
          <a:p>
            <a:pPr algn="l" marL="316979" indent="-158489" lvl="1">
              <a:lnSpc>
                <a:spcPts val="2206"/>
              </a:lnSpc>
              <a:buFont typeface="Arial"/>
              <a:buChar char="•"/>
            </a:pPr>
            <a:r>
              <a:rPr lang="en-US" b="true" sz="1751">
                <a:solidFill>
                  <a:srgbClr val="0B2545"/>
                </a:solidFill>
                <a:latin typeface="Arial Bold"/>
                <a:ea typeface="Arial Bold"/>
                <a:cs typeface="Arial Bold"/>
                <a:sym typeface="Arial Bold"/>
              </a:rPr>
              <a:t>Reliable Match Verification</a:t>
            </a:r>
            <a:r>
              <a:rPr lang="en-US" sz="1751">
                <a:solidFill>
                  <a:srgbClr val="0B2545"/>
                </a:solidFill>
                <a:latin typeface="Arial"/>
                <a:ea typeface="Arial"/>
                <a:cs typeface="Arial"/>
                <a:sym typeface="Arial"/>
              </a:rPr>
              <a:t> - use MAGSAC to remove incorrect matches.</a:t>
            </a:r>
          </a:p>
          <a:p>
            <a:pPr algn="l" marL="298882" indent="-149441" lvl="1">
              <a:lnSpc>
                <a:spcPts val="2080"/>
              </a:lnSpc>
              <a:buFont typeface="Arial"/>
              <a:buChar char="•"/>
            </a:pPr>
            <a:r>
              <a:rPr lang="en-US" b="true" sz="1651">
                <a:solidFill>
                  <a:srgbClr val="0B2545"/>
                </a:solidFill>
                <a:latin typeface="Arial Bold"/>
                <a:ea typeface="Arial Bold"/>
                <a:cs typeface="Arial Bold"/>
                <a:sym typeface="Arial Bold"/>
              </a:rPr>
              <a:t>Uniform Match Distribution</a:t>
            </a:r>
            <a:r>
              <a:rPr lang="en-US" sz="1651">
                <a:solidFill>
                  <a:srgbClr val="0B2545"/>
                </a:solidFill>
                <a:latin typeface="Arial"/>
                <a:ea typeface="Arial"/>
                <a:cs typeface="Arial"/>
                <a:sym typeface="Arial"/>
              </a:rPr>
              <a:t> - ensure matches are spread across the image, not clustered in one area.</a:t>
            </a:r>
          </a:p>
          <a:p>
            <a:pPr algn="l" marL="316979" indent="-158489" lvl="1">
              <a:lnSpc>
                <a:spcPts val="2206"/>
              </a:lnSpc>
              <a:buFont typeface="Arial"/>
              <a:buChar char="•"/>
            </a:pPr>
            <a:r>
              <a:rPr lang="en-US" b="true" sz="1751">
                <a:solidFill>
                  <a:srgbClr val="0B2545"/>
                </a:solidFill>
                <a:latin typeface="Arial Bold"/>
                <a:ea typeface="Arial Bold"/>
                <a:cs typeface="Arial Bold"/>
                <a:sym typeface="Arial Bold"/>
              </a:rPr>
              <a:t>Sub-Pixel Accuracy</a:t>
            </a:r>
            <a:r>
              <a:rPr lang="en-US" sz="1751">
                <a:solidFill>
                  <a:srgbClr val="0B2545"/>
                </a:solidFill>
                <a:latin typeface="Arial"/>
                <a:ea typeface="Arial"/>
                <a:cs typeface="Arial"/>
                <a:sym typeface="Arial"/>
              </a:rPr>
              <a:t> - refine matched points for precise registration.</a:t>
            </a:r>
          </a:p>
          <a:p>
            <a:pPr algn="l" marL="316979" indent="-158489" lvl="1">
              <a:lnSpc>
                <a:spcPts val="2206"/>
              </a:lnSpc>
              <a:buFont typeface="Arial"/>
              <a:buChar char="•"/>
            </a:pPr>
            <a:r>
              <a:rPr lang="en-US" b="true" sz="1751">
                <a:solidFill>
                  <a:srgbClr val="0B2545"/>
                </a:solidFill>
                <a:latin typeface="Arial Bold"/>
                <a:ea typeface="Arial Bold"/>
                <a:cs typeface="Arial Bold"/>
                <a:sym typeface="Arial Bold"/>
              </a:rPr>
              <a:t>ISRO/ISIS-Compatible Output -</a:t>
            </a:r>
            <a:r>
              <a:rPr lang="en-US" sz="1751">
                <a:solidFill>
                  <a:srgbClr val="0B2545"/>
                </a:solidFill>
                <a:latin typeface="Arial"/>
                <a:ea typeface="Arial"/>
                <a:cs typeface="Arial"/>
                <a:sym typeface="Arial"/>
              </a:rPr>
              <a:t> export verified tie points as an ISIS control network.</a:t>
            </a:r>
          </a:p>
        </p:txBody>
      </p:sp>
      <p:sp>
        <p:nvSpPr>
          <p:cNvPr name="TextBox 39" id="39"/>
          <p:cNvSpPr txBox="true"/>
          <p:nvPr/>
        </p:nvSpPr>
        <p:spPr>
          <a:xfrm rot="0">
            <a:off x="11201802" y="2010537"/>
            <a:ext cx="2680792" cy="295275"/>
          </a:xfrm>
          <a:prstGeom prst="rect">
            <a:avLst/>
          </a:prstGeom>
        </p:spPr>
        <p:txBody>
          <a:bodyPr anchor="t" rtlCol="false" tIns="0" lIns="0" bIns="0" rIns="0">
            <a:spAutoFit/>
          </a:bodyPr>
          <a:lstStyle/>
          <a:p>
            <a:pPr algn="ctr">
              <a:lnSpc>
                <a:spcPts val="2279"/>
              </a:lnSpc>
              <a:spcBef>
                <a:spcPct val="0"/>
              </a:spcBef>
            </a:pPr>
            <a:r>
              <a:rPr lang="en-US" b="true" sz="1899">
                <a:solidFill>
                  <a:srgbClr val="FFFFFF"/>
                </a:solidFill>
                <a:latin typeface="Arimo Bold"/>
                <a:ea typeface="Arimo Bold"/>
                <a:cs typeface="Arimo Bold"/>
                <a:sym typeface="Arimo Bold"/>
              </a:rPr>
              <a:t>PROPOSED SOLUTION</a:t>
            </a:r>
          </a:p>
        </p:txBody>
      </p:sp>
      <p:grpSp>
        <p:nvGrpSpPr>
          <p:cNvPr name="Group 40" id="40"/>
          <p:cNvGrpSpPr/>
          <p:nvPr/>
        </p:nvGrpSpPr>
        <p:grpSpPr>
          <a:xfrm rot="0">
            <a:off x="10598772" y="6911491"/>
            <a:ext cx="7607792" cy="2346809"/>
            <a:chOff x="0" y="0"/>
            <a:chExt cx="9577471" cy="2954405"/>
          </a:xfrm>
        </p:grpSpPr>
        <p:sp>
          <p:nvSpPr>
            <p:cNvPr name="Freeform 41" id="41"/>
            <p:cNvSpPr/>
            <p:nvPr/>
          </p:nvSpPr>
          <p:spPr>
            <a:xfrm flipH="false" flipV="false" rot="0">
              <a:off x="0" y="0"/>
              <a:ext cx="9577470" cy="2954405"/>
            </a:xfrm>
            <a:custGeom>
              <a:avLst/>
              <a:gdLst/>
              <a:ahLst/>
              <a:cxnLst/>
              <a:rect r="r" b="b" t="t" l="l"/>
              <a:pathLst>
                <a:path h="2954405" w="9577470">
                  <a:moveTo>
                    <a:pt x="0" y="109371"/>
                  </a:moveTo>
                  <a:cubicBezTo>
                    <a:pt x="0" y="48972"/>
                    <a:pt x="34293" y="0"/>
                    <a:pt x="76588" y="0"/>
                  </a:cubicBezTo>
                  <a:lnTo>
                    <a:pt x="9500883" y="0"/>
                  </a:lnTo>
                  <a:cubicBezTo>
                    <a:pt x="9543178" y="0"/>
                    <a:pt x="9577470" y="48972"/>
                    <a:pt x="9577470" y="109371"/>
                  </a:cubicBezTo>
                  <a:lnTo>
                    <a:pt x="9577470" y="2845034"/>
                  </a:lnTo>
                  <a:cubicBezTo>
                    <a:pt x="9577470" y="2905433"/>
                    <a:pt x="9543178" y="2954405"/>
                    <a:pt x="9500883" y="2954405"/>
                  </a:cubicBezTo>
                  <a:lnTo>
                    <a:pt x="76588" y="2954405"/>
                  </a:lnTo>
                  <a:cubicBezTo>
                    <a:pt x="34293" y="2954405"/>
                    <a:pt x="0" y="2905433"/>
                    <a:pt x="0" y="2845034"/>
                  </a:cubicBezTo>
                  <a:close/>
                </a:path>
              </a:pathLst>
            </a:custGeom>
            <a:solidFill>
              <a:srgbClr val="EEF3FA"/>
            </a:solidFill>
            <a:ln w="19050" cap="sq">
              <a:solidFill>
                <a:srgbClr val="C9D3DE"/>
              </a:solidFill>
              <a:prstDash val="solid"/>
              <a:miter/>
            </a:ln>
          </p:spPr>
        </p:sp>
      </p:grpSp>
      <p:sp>
        <p:nvSpPr>
          <p:cNvPr name="TextBox 42" id="42"/>
          <p:cNvSpPr txBox="true"/>
          <p:nvPr/>
        </p:nvSpPr>
        <p:spPr>
          <a:xfrm rot="0">
            <a:off x="10720321" y="6999045"/>
            <a:ext cx="7364695" cy="2152650"/>
          </a:xfrm>
          <a:prstGeom prst="rect">
            <a:avLst/>
          </a:prstGeom>
        </p:spPr>
        <p:txBody>
          <a:bodyPr anchor="t" rtlCol="false" tIns="0" lIns="0" bIns="0" rIns="0">
            <a:spAutoFit/>
          </a:bodyPr>
          <a:lstStyle/>
          <a:p>
            <a:pPr algn="just">
              <a:lnSpc>
                <a:spcPts val="2160"/>
              </a:lnSpc>
              <a:spcBef>
                <a:spcPct val="0"/>
              </a:spcBef>
            </a:pPr>
            <a:r>
              <a:rPr lang="en-US" b="true" sz="1800">
                <a:solidFill>
                  <a:srgbClr val="000000"/>
                </a:solidFill>
                <a:latin typeface="Arimo Bold"/>
                <a:ea typeface="Arimo Bold"/>
                <a:cs typeface="Arimo Bold"/>
                <a:sym typeface="Arimo Bold"/>
              </a:rPr>
              <a:t>LunarMatch takes a Chandrayaan-2 image and a lunar reference image, preprocesses them to reduce illumination effects, aligns them to a common scale using geographic information, and finds corresponding features using SIFT, Mod-π, or LightGlue. MAGSAC removes inc</a:t>
            </a:r>
            <a:r>
              <a:rPr lang="en-US" b="true" sz="1800">
                <a:solidFill>
                  <a:srgbClr val="000000"/>
                </a:solidFill>
                <a:latin typeface="Arimo Bold"/>
                <a:ea typeface="Arimo Bold"/>
                <a:cs typeface="Arimo Bold"/>
                <a:sym typeface="Arimo Bold"/>
              </a:rPr>
              <a:t>orrect matches, sub-pixel refinement improves accuracy, and RMSE, inlier count, and coverage validate the result. Finally, the registered image and verified match points are exported as an ISIS Control Network for downstream photogrammetry.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761601"/>
            <a:ext cx="18288000" cy="515874"/>
            <a:chOff x="0" y="0"/>
            <a:chExt cx="24384000" cy="687832"/>
          </a:xfrm>
        </p:grpSpPr>
        <p:sp>
          <p:nvSpPr>
            <p:cNvPr name="Freeform 3" id="3"/>
            <p:cNvSpPr/>
            <p:nvPr/>
          </p:nvSpPr>
          <p:spPr>
            <a:xfrm flipH="false" flipV="false" rot="0">
              <a:off x="0" y="0"/>
              <a:ext cx="24384000" cy="687832"/>
            </a:xfrm>
            <a:custGeom>
              <a:avLst/>
              <a:gdLst/>
              <a:ahLst/>
              <a:cxnLst/>
              <a:rect r="r" b="b" t="t" l="l"/>
              <a:pathLst>
                <a:path h="687832" w="24384000">
                  <a:moveTo>
                    <a:pt x="0" y="0"/>
                  </a:moveTo>
                  <a:lnTo>
                    <a:pt x="24384000" y="0"/>
                  </a:lnTo>
                  <a:lnTo>
                    <a:pt x="24384000" y="687832"/>
                  </a:lnTo>
                  <a:lnTo>
                    <a:pt x="0" y="687832"/>
                  </a:lnTo>
                  <a:close/>
                </a:path>
              </a:pathLst>
            </a:custGeom>
            <a:solidFill>
              <a:srgbClr val="0070C0"/>
            </a:solidFill>
          </p:spPr>
        </p:sp>
      </p:grpSp>
      <p:grpSp>
        <p:nvGrpSpPr>
          <p:cNvPr name="Group 4" id="4"/>
          <p:cNvGrpSpPr/>
          <p:nvPr/>
        </p:nvGrpSpPr>
        <p:grpSpPr>
          <a:xfrm rot="0">
            <a:off x="914400" y="-71438"/>
            <a:ext cx="16459200" cy="1714500"/>
            <a:chOff x="0" y="0"/>
            <a:chExt cx="21945600" cy="2286000"/>
          </a:xfrm>
        </p:grpSpPr>
        <p:sp>
          <p:nvSpPr>
            <p:cNvPr name="Freeform 5" id="5"/>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2">
                <a:alphaModFix amt="0"/>
              </a:blip>
              <a:stretch>
                <a:fillRect l="0" t="-137056" r="0" b="-137056"/>
              </a:stretch>
            </a:blipFill>
          </p:spPr>
        </p:sp>
        <p:sp>
          <p:nvSpPr>
            <p:cNvPr name="TextBox 6" id="6"/>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b="true">
                  <a:solidFill>
                    <a:srgbClr val="000000"/>
                  </a:solidFill>
                  <a:latin typeface="Times New Roman Bold"/>
                  <a:ea typeface="Times New Roman Bold"/>
                  <a:cs typeface="Times New Roman Bold"/>
                  <a:sym typeface="Times New Roman Bold"/>
                </a:rPr>
                <a:t>TECHNICAL APPROACH</a:t>
              </a:r>
            </a:p>
          </p:txBody>
        </p:sp>
      </p:grpSp>
      <p:grpSp>
        <p:nvGrpSpPr>
          <p:cNvPr name="Group 7" id="7"/>
          <p:cNvGrpSpPr/>
          <p:nvPr/>
        </p:nvGrpSpPr>
        <p:grpSpPr>
          <a:xfrm rot="0">
            <a:off x="13106781" y="9745694"/>
            <a:ext cx="4267200" cy="547688"/>
            <a:chOff x="0" y="0"/>
            <a:chExt cx="5689600" cy="730250"/>
          </a:xfrm>
        </p:grpSpPr>
        <p:sp>
          <p:nvSpPr>
            <p:cNvPr name="Freeform 8" id="8"/>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2">
                <a:alphaModFix amt="0"/>
              </a:blip>
              <a:stretch>
                <a:fillRect l="0" t="-101813" r="0" b="-101813"/>
              </a:stretch>
            </a:blipFill>
          </p:spPr>
        </p:sp>
        <p:sp>
          <p:nvSpPr>
            <p:cNvPr name="TextBox 9" id="9"/>
            <p:cNvSpPr txBox="true"/>
            <p:nvPr/>
          </p:nvSpPr>
          <p:spPr>
            <a:xfrm>
              <a:off x="0" y="-19050"/>
              <a:ext cx="5689600" cy="749300"/>
            </a:xfrm>
            <a:prstGeom prst="rect">
              <a:avLst/>
            </a:prstGeom>
          </p:spPr>
          <p:txBody>
            <a:bodyPr anchor="ctr" rtlCol="false" tIns="0" lIns="0" bIns="0" rIns="0"/>
            <a:lstStyle/>
            <a:p>
              <a:pPr algn="r">
                <a:lnSpc>
                  <a:spcPts val="2160"/>
                </a:lnSpc>
              </a:pPr>
              <a:r>
                <a:rPr lang="en-US" sz="1800" b="true">
                  <a:solidFill>
                    <a:srgbClr val="FFFFFF"/>
                  </a:solidFill>
                  <a:latin typeface="Arimo Bold"/>
                  <a:ea typeface="Arimo Bold"/>
                  <a:cs typeface="Arimo Bold"/>
                  <a:sym typeface="Arimo Bold"/>
                </a:rPr>
                <a:t>3</a:t>
              </a:r>
            </a:p>
          </p:txBody>
        </p:sp>
      </p:grpSp>
      <p:grpSp>
        <p:nvGrpSpPr>
          <p:cNvPr name="Group 10" id="10"/>
          <p:cNvGrpSpPr/>
          <p:nvPr/>
        </p:nvGrpSpPr>
        <p:grpSpPr>
          <a:xfrm rot="0">
            <a:off x="6972300" y="9534525"/>
            <a:ext cx="4806001" cy="752475"/>
            <a:chOff x="0" y="0"/>
            <a:chExt cx="6408001" cy="1003300"/>
          </a:xfrm>
        </p:grpSpPr>
        <p:sp>
          <p:nvSpPr>
            <p:cNvPr name="Freeform 11" id="11"/>
            <p:cNvSpPr/>
            <p:nvPr/>
          </p:nvSpPr>
          <p:spPr>
            <a:xfrm flipH="false" flipV="false" rot="0">
              <a:off x="0" y="0"/>
              <a:ext cx="6408000" cy="1003300"/>
            </a:xfrm>
            <a:custGeom>
              <a:avLst/>
              <a:gdLst/>
              <a:ahLst/>
              <a:cxnLst/>
              <a:rect r="r" b="b" t="t" l="l"/>
              <a:pathLst>
                <a:path h="1003300" w="6408000">
                  <a:moveTo>
                    <a:pt x="0" y="0"/>
                  </a:moveTo>
                  <a:lnTo>
                    <a:pt x="6408000" y="0"/>
                  </a:lnTo>
                  <a:lnTo>
                    <a:pt x="6408000" y="1003300"/>
                  </a:lnTo>
                  <a:lnTo>
                    <a:pt x="0" y="1003300"/>
                  </a:lnTo>
                  <a:close/>
                </a:path>
              </a:pathLst>
            </a:custGeom>
            <a:blipFill>
              <a:blip r:embed="rId2">
                <a:alphaModFix amt="0"/>
              </a:blip>
              <a:stretch>
                <a:fillRect l="0" t="-88057" r="0" b="-60841"/>
              </a:stretch>
            </a:blipFill>
          </p:spPr>
        </p:sp>
        <p:sp>
          <p:nvSpPr>
            <p:cNvPr name="TextBox 12" id="12"/>
            <p:cNvSpPr txBox="true"/>
            <p:nvPr/>
          </p:nvSpPr>
          <p:spPr>
            <a:xfrm>
              <a:off x="0" y="-19050"/>
              <a:ext cx="6408001" cy="1022350"/>
            </a:xfrm>
            <a:prstGeom prst="rect">
              <a:avLst/>
            </a:prstGeom>
          </p:spPr>
          <p:txBody>
            <a:bodyPr anchor="ctr" rtlCol="false" tIns="0" lIns="0" bIns="0" rIns="0"/>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name="Group 13" id="13"/>
          <p:cNvGrpSpPr/>
          <p:nvPr/>
        </p:nvGrpSpPr>
        <p:grpSpPr>
          <a:xfrm rot="0">
            <a:off x="475612" y="359321"/>
            <a:ext cx="1915887" cy="1249101"/>
            <a:chOff x="0" y="0"/>
            <a:chExt cx="2554516" cy="1665468"/>
          </a:xfrm>
        </p:grpSpPr>
        <p:sp>
          <p:nvSpPr>
            <p:cNvPr name="Freeform 14" id="14" descr="Your startup LOGO"/>
            <p:cNvSpPr/>
            <p:nvPr/>
          </p:nvSpPr>
          <p:spPr>
            <a:xfrm flipH="false" flipV="false" rot="0">
              <a:off x="0" y="0"/>
              <a:ext cx="2554478" cy="1665481"/>
            </a:xfrm>
            <a:custGeom>
              <a:avLst/>
              <a:gdLst/>
              <a:ahLst/>
              <a:cxnLst/>
              <a:rect r="r" b="b" t="t" l="l"/>
              <a:pathLst>
                <a:path h="1665481" w="2554478">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name="TextBox 15" id="15"/>
            <p:cNvSpPr txBox="true"/>
            <p:nvPr/>
          </p:nvSpPr>
          <p:spPr>
            <a:xfrm>
              <a:off x="0" y="-57150"/>
              <a:ext cx="2554516" cy="1722618"/>
            </a:xfrm>
            <a:prstGeom prst="rect">
              <a:avLst/>
            </a:prstGeom>
          </p:spPr>
          <p:txBody>
            <a:bodyPr anchor="ctr" rtlCol="false" tIns="50800" lIns="50800" bIns="50800" rIns="50800"/>
            <a:lstStyle/>
            <a:p>
              <a:pPr algn="ctr">
                <a:lnSpc>
                  <a:spcPts val="3240"/>
                </a:lnSpc>
              </a:pPr>
              <a:r>
                <a:rPr lang="en-US" sz="2700">
                  <a:solidFill>
                    <a:srgbClr val="000000"/>
                  </a:solidFill>
                  <a:latin typeface="Calibri (MS)"/>
                  <a:ea typeface="Calibri (MS)"/>
                  <a:cs typeface="Calibri (MS)"/>
                  <a:sym typeface="Calibri (MS)"/>
                </a:rPr>
                <a:t>Shevolution</a:t>
              </a:r>
            </a:p>
          </p:txBody>
        </p:sp>
      </p:grpSp>
      <p:grpSp>
        <p:nvGrpSpPr>
          <p:cNvPr name="Group 16" id="16"/>
          <p:cNvGrpSpPr/>
          <p:nvPr/>
        </p:nvGrpSpPr>
        <p:grpSpPr>
          <a:xfrm rot="0">
            <a:off x="14670129" y="2248"/>
            <a:ext cx="3374774" cy="1593504"/>
            <a:chOff x="0" y="0"/>
            <a:chExt cx="4499699" cy="2124672"/>
          </a:xfrm>
        </p:grpSpPr>
        <p:sp>
          <p:nvSpPr>
            <p:cNvPr name="Freeform 17" id="17"/>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3"/>
              <a:stretch>
                <a:fillRect l="0" t="0" r="0" b="1"/>
              </a:stretch>
            </a:blipFill>
          </p:spPr>
        </p:sp>
      </p:grpSp>
      <p:sp>
        <p:nvSpPr>
          <p:cNvPr name="Freeform 18" id="18"/>
          <p:cNvSpPr/>
          <p:nvPr/>
        </p:nvSpPr>
        <p:spPr>
          <a:xfrm flipH="false" flipV="false" rot="0">
            <a:off x="1439390" y="1595752"/>
            <a:ext cx="15409221" cy="6607178"/>
          </a:xfrm>
          <a:custGeom>
            <a:avLst/>
            <a:gdLst/>
            <a:ahLst/>
            <a:cxnLst/>
            <a:rect r="r" b="b" t="t" l="l"/>
            <a:pathLst>
              <a:path h="6607178" w="15409221">
                <a:moveTo>
                  <a:pt x="0" y="0"/>
                </a:moveTo>
                <a:lnTo>
                  <a:pt x="15409220" y="0"/>
                </a:lnTo>
                <a:lnTo>
                  <a:pt x="15409220" y="6607178"/>
                </a:lnTo>
                <a:lnTo>
                  <a:pt x="0" y="6607178"/>
                </a:lnTo>
                <a:lnTo>
                  <a:pt x="0" y="0"/>
                </a:lnTo>
                <a:close/>
              </a:path>
            </a:pathLst>
          </a:custGeom>
          <a:blipFill>
            <a:blip r:embed="rId4"/>
            <a:stretch>
              <a:fillRect l="0" t="-640" r="0" b="-1906"/>
            </a:stretch>
          </a:blipFill>
        </p:spPr>
      </p:sp>
      <p:grpSp>
        <p:nvGrpSpPr>
          <p:cNvPr name="Group 19" id="19"/>
          <p:cNvGrpSpPr/>
          <p:nvPr/>
        </p:nvGrpSpPr>
        <p:grpSpPr>
          <a:xfrm rot="0">
            <a:off x="754380" y="8298180"/>
            <a:ext cx="16610076" cy="493776"/>
            <a:chOff x="0" y="0"/>
            <a:chExt cx="22146768" cy="658368"/>
          </a:xfrm>
        </p:grpSpPr>
        <p:sp>
          <p:nvSpPr>
            <p:cNvPr name="Freeform 20" id="20"/>
            <p:cNvSpPr/>
            <p:nvPr/>
          </p:nvSpPr>
          <p:spPr>
            <a:xfrm flipH="false" flipV="false" rot="0">
              <a:off x="0" y="0"/>
              <a:ext cx="22146768" cy="658368"/>
            </a:xfrm>
            <a:custGeom>
              <a:avLst/>
              <a:gdLst/>
              <a:ahLst/>
              <a:cxnLst/>
              <a:rect r="r" b="b" t="t" l="l"/>
              <a:pathLst>
                <a:path h="658368" w="22146768">
                  <a:moveTo>
                    <a:pt x="0" y="128016"/>
                  </a:moveTo>
                  <a:cubicBezTo>
                    <a:pt x="0" y="57277"/>
                    <a:pt x="57277" y="0"/>
                    <a:pt x="128016" y="0"/>
                  </a:cubicBezTo>
                  <a:lnTo>
                    <a:pt x="22018752" y="0"/>
                  </a:lnTo>
                  <a:cubicBezTo>
                    <a:pt x="22089490" y="0"/>
                    <a:pt x="22146768" y="57277"/>
                    <a:pt x="22146768" y="128016"/>
                  </a:cubicBezTo>
                  <a:lnTo>
                    <a:pt x="22146768" y="530352"/>
                  </a:lnTo>
                  <a:cubicBezTo>
                    <a:pt x="22146768" y="601091"/>
                    <a:pt x="22089490" y="658368"/>
                    <a:pt x="22018752" y="658368"/>
                  </a:cubicBezTo>
                  <a:lnTo>
                    <a:pt x="128016" y="658368"/>
                  </a:lnTo>
                  <a:cubicBezTo>
                    <a:pt x="57277" y="658368"/>
                    <a:pt x="0" y="601091"/>
                    <a:pt x="0" y="530352"/>
                  </a:cubicBezTo>
                  <a:close/>
                </a:path>
              </a:pathLst>
            </a:custGeom>
            <a:solidFill>
              <a:srgbClr val="55606B"/>
            </a:solidFill>
          </p:spPr>
        </p:sp>
      </p:grpSp>
      <p:grpSp>
        <p:nvGrpSpPr>
          <p:cNvPr name="Group 21" id="21"/>
          <p:cNvGrpSpPr/>
          <p:nvPr/>
        </p:nvGrpSpPr>
        <p:grpSpPr>
          <a:xfrm rot="0">
            <a:off x="864108" y="8380476"/>
            <a:ext cx="329184" cy="329184"/>
            <a:chOff x="0" y="0"/>
            <a:chExt cx="438912" cy="438912"/>
          </a:xfrm>
        </p:grpSpPr>
        <p:sp>
          <p:nvSpPr>
            <p:cNvPr name="Freeform 22" id="22" descr="/tmp/outputs/deck_assets/cogs_white.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5"/>
              <a:stretch>
                <a:fillRect l="0" t="0" r="0" b="0"/>
              </a:stretch>
            </a:blipFill>
          </p:spPr>
        </p:sp>
      </p:grpSp>
      <p:grpSp>
        <p:nvGrpSpPr>
          <p:cNvPr name="Group 23" id="23"/>
          <p:cNvGrpSpPr/>
          <p:nvPr/>
        </p:nvGrpSpPr>
        <p:grpSpPr>
          <a:xfrm rot="0">
            <a:off x="1220724" y="8298180"/>
            <a:ext cx="15979140" cy="493776"/>
            <a:chOff x="0" y="0"/>
            <a:chExt cx="21305520" cy="658368"/>
          </a:xfrm>
        </p:grpSpPr>
        <p:sp>
          <p:nvSpPr>
            <p:cNvPr name="Freeform 24" id="24"/>
            <p:cNvSpPr/>
            <p:nvPr/>
          </p:nvSpPr>
          <p:spPr>
            <a:xfrm flipH="false" flipV="false" rot="0">
              <a:off x="0" y="0"/>
              <a:ext cx="21305520" cy="658368"/>
            </a:xfrm>
            <a:custGeom>
              <a:avLst/>
              <a:gdLst/>
              <a:ahLst/>
              <a:cxnLst/>
              <a:rect r="r" b="b" t="t" l="l"/>
              <a:pathLst>
                <a:path h="658368" w="21305520">
                  <a:moveTo>
                    <a:pt x="0" y="0"/>
                  </a:moveTo>
                  <a:lnTo>
                    <a:pt x="21305520" y="0"/>
                  </a:lnTo>
                  <a:lnTo>
                    <a:pt x="21305520" y="658368"/>
                  </a:lnTo>
                  <a:lnTo>
                    <a:pt x="0" y="658368"/>
                  </a:lnTo>
                  <a:close/>
                </a:path>
              </a:pathLst>
            </a:custGeom>
            <a:blipFill>
              <a:blip r:embed="rId2">
                <a:alphaModFix amt="0"/>
              </a:blip>
              <a:stretch>
                <a:fillRect l="0" t="-580557" r="0" b="-580557"/>
              </a:stretch>
            </a:blipFill>
          </p:spPr>
        </p:sp>
        <p:sp>
          <p:nvSpPr>
            <p:cNvPr name="TextBox 25" id="25"/>
            <p:cNvSpPr txBox="true"/>
            <p:nvPr/>
          </p:nvSpPr>
          <p:spPr>
            <a:xfrm>
              <a:off x="0" y="-28575"/>
              <a:ext cx="21305520" cy="686943"/>
            </a:xfrm>
            <a:prstGeom prst="rect">
              <a:avLst/>
            </a:prstGeom>
          </p:spPr>
          <p:txBody>
            <a:bodyPr anchor="ctr" rtlCol="false" tIns="0" lIns="0" bIns="0" rIns="0"/>
            <a:lstStyle/>
            <a:p>
              <a:pPr algn="l">
                <a:lnSpc>
                  <a:spcPts val="2250"/>
                </a:lnSpc>
              </a:pPr>
              <a:r>
                <a:rPr lang="en-US" b="true" sz="1875" spc="75">
                  <a:solidFill>
                    <a:srgbClr val="FFFFFF"/>
                  </a:solidFill>
                  <a:latin typeface="Arial Bold"/>
                  <a:ea typeface="Arial Bold"/>
                  <a:cs typeface="Arial Bold"/>
                  <a:sym typeface="Arial Bold"/>
                </a:rPr>
                <a:t>TECH STACK</a:t>
              </a:r>
            </a:p>
          </p:txBody>
        </p:sp>
      </p:grpSp>
      <p:grpSp>
        <p:nvGrpSpPr>
          <p:cNvPr name="Group 26" id="26"/>
          <p:cNvGrpSpPr/>
          <p:nvPr/>
        </p:nvGrpSpPr>
        <p:grpSpPr>
          <a:xfrm rot="0">
            <a:off x="754380" y="8791956"/>
            <a:ext cx="16629126" cy="869442"/>
            <a:chOff x="0" y="0"/>
            <a:chExt cx="22172168" cy="1159256"/>
          </a:xfrm>
        </p:grpSpPr>
        <p:sp>
          <p:nvSpPr>
            <p:cNvPr name="Freeform 27" id="27"/>
            <p:cNvSpPr/>
            <p:nvPr/>
          </p:nvSpPr>
          <p:spPr>
            <a:xfrm flipH="false" flipV="false" rot="0">
              <a:off x="0" y="0"/>
              <a:ext cx="22172168" cy="1159256"/>
            </a:xfrm>
            <a:custGeom>
              <a:avLst/>
              <a:gdLst/>
              <a:ahLst/>
              <a:cxnLst/>
              <a:rect r="r" b="b" t="t" l="l"/>
              <a:pathLst>
                <a:path h="1159256" w="22172168">
                  <a:moveTo>
                    <a:pt x="0" y="112141"/>
                  </a:moveTo>
                  <a:cubicBezTo>
                    <a:pt x="0" y="50165"/>
                    <a:pt x="50165" y="0"/>
                    <a:pt x="112141" y="0"/>
                  </a:cubicBezTo>
                  <a:lnTo>
                    <a:pt x="22060027" y="0"/>
                  </a:lnTo>
                  <a:cubicBezTo>
                    <a:pt x="22122003" y="0"/>
                    <a:pt x="22172168" y="50165"/>
                    <a:pt x="22172168" y="112141"/>
                  </a:cubicBezTo>
                  <a:lnTo>
                    <a:pt x="22172168" y="1047115"/>
                  </a:lnTo>
                  <a:cubicBezTo>
                    <a:pt x="22172168" y="1109091"/>
                    <a:pt x="22122003" y="1159256"/>
                    <a:pt x="22060027" y="1159256"/>
                  </a:cubicBezTo>
                  <a:lnTo>
                    <a:pt x="112141" y="1159256"/>
                  </a:lnTo>
                  <a:cubicBezTo>
                    <a:pt x="50165" y="1159256"/>
                    <a:pt x="0" y="1109091"/>
                    <a:pt x="0" y="1047115"/>
                  </a:cubicBezTo>
                  <a:close/>
                </a:path>
              </a:pathLst>
            </a:custGeom>
            <a:solidFill>
              <a:srgbClr val="F4F7FA"/>
            </a:solidFill>
            <a:ln w="19050" cap="sq">
              <a:solidFill>
                <a:srgbClr val="C9D3DE"/>
              </a:solidFill>
              <a:prstDash val="solid"/>
              <a:miter/>
            </a:ln>
          </p:spPr>
        </p:sp>
      </p:grpSp>
      <p:grpSp>
        <p:nvGrpSpPr>
          <p:cNvPr name="Group 28" id="28"/>
          <p:cNvGrpSpPr/>
          <p:nvPr/>
        </p:nvGrpSpPr>
        <p:grpSpPr>
          <a:xfrm rot="0">
            <a:off x="914400" y="8883777"/>
            <a:ext cx="16171164" cy="685800"/>
            <a:chOff x="0" y="0"/>
            <a:chExt cx="21561552" cy="914400"/>
          </a:xfrm>
        </p:grpSpPr>
        <p:sp>
          <p:nvSpPr>
            <p:cNvPr name="Freeform 29" id="29"/>
            <p:cNvSpPr/>
            <p:nvPr/>
          </p:nvSpPr>
          <p:spPr>
            <a:xfrm flipH="false" flipV="false" rot="0">
              <a:off x="0" y="0"/>
              <a:ext cx="21561552" cy="914400"/>
            </a:xfrm>
            <a:custGeom>
              <a:avLst/>
              <a:gdLst/>
              <a:ahLst/>
              <a:cxnLst/>
              <a:rect r="r" b="b" t="t" l="l"/>
              <a:pathLst>
                <a:path h="914400" w="21561552">
                  <a:moveTo>
                    <a:pt x="0" y="0"/>
                  </a:moveTo>
                  <a:lnTo>
                    <a:pt x="21561552" y="0"/>
                  </a:lnTo>
                  <a:lnTo>
                    <a:pt x="21561552" y="914400"/>
                  </a:lnTo>
                  <a:lnTo>
                    <a:pt x="0" y="914400"/>
                  </a:lnTo>
                  <a:close/>
                </a:path>
              </a:pathLst>
            </a:custGeom>
            <a:blipFill>
              <a:blip r:embed="rId2">
                <a:alphaModFix amt="0"/>
              </a:blip>
              <a:stretch>
                <a:fillRect l="0" t="-409457" r="0" b="-409457"/>
              </a:stretch>
            </a:blipFill>
          </p:spPr>
        </p:sp>
        <p:sp>
          <p:nvSpPr>
            <p:cNvPr name="TextBox 30" id="30"/>
            <p:cNvSpPr txBox="true"/>
            <p:nvPr/>
          </p:nvSpPr>
          <p:spPr>
            <a:xfrm>
              <a:off x="0" y="-38100"/>
              <a:ext cx="21561552" cy="952500"/>
            </a:xfrm>
            <a:prstGeom prst="rect">
              <a:avLst/>
            </a:prstGeom>
          </p:spPr>
          <p:txBody>
            <a:bodyPr anchor="ctr" rtlCol="false" tIns="0" lIns="0" bIns="0" rIns="0"/>
            <a:lstStyle/>
            <a:p>
              <a:pPr algn="l">
                <a:lnSpc>
                  <a:spcPts val="2012"/>
                </a:lnSpc>
              </a:pPr>
              <a:r>
                <a:rPr lang="en-US" sz="1524">
                  <a:solidFill>
                    <a:srgbClr val="1A1A1A"/>
                  </a:solidFill>
                  <a:latin typeface="Arial"/>
                  <a:ea typeface="Arial"/>
                  <a:cs typeface="Arial"/>
                  <a:sym typeface="Arial"/>
                </a:rPr>
                <a:t>Python  ·  OpenCV  ·  NumPy  ·  SciPy  ·  Shapely (footprint geometry)  ·  PyTorch + LightGlue / SuperPoint  · MAGSAC . rasterio (GeoTIFF I/O, GDAL-optional)  · FastAPI . React . Tailwind CSS . SQLite . Three.js  ·  pytest - 188 tests, all hand-checkable against synthetic ground truth</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2144"/>
            <a:ext cx="18288000" cy="754856"/>
            <a:chOff x="0" y="0"/>
            <a:chExt cx="24384000" cy="1006475"/>
          </a:xfrm>
        </p:grpSpPr>
        <p:sp>
          <p:nvSpPr>
            <p:cNvPr name="Freeform 3" id="3"/>
            <p:cNvSpPr/>
            <p:nvPr/>
          </p:nvSpPr>
          <p:spPr>
            <a:xfrm flipH="false" flipV="false" rot="0">
              <a:off x="0" y="0"/>
              <a:ext cx="24384000" cy="1006475"/>
            </a:xfrm>
            <a:custGeom>
              <a:avLst/>
              <a:gdLst/>
              <a:ahLst/>
              <a:cxnLst/>
              <a:rect r="r" b="b" t="t" l="l"/>
              <a:pathLst>
                <a:path h="1006475" w="24384000">
                  <a:moveTo>
                    <a:pt x="0" y="0"/>
                  </a:moveTo>
                  <a:lnTo>
                    <a:pt x="24384000" y="0"/>
                  </a:lnTo>
                  <a:lnTo>
                    <a:pt x="24384000" y="1006475"/>
                  </a:lnTo>
                  <a:lnTo>
                    <a:pt x="0" y="1006475"/>
                  </a:lnTo>
                  <a:close/>
                </a:path>
              </a:pathLst>
            </a:custGeom>
            <a:solidFill>
              <a:srgbClr val="0070C0"/>
            </a:solidFill>
          </p:spPr>
        </p:sp>
      </p:grpSp>
      <p:grpSp>
        <p:nvGrpSpPr>
          <p:cNvPr name="Group 4" id="4"/>
          <p:cNvGrpSpPr/>
          <p:nvPr/>
        </p:nvGrpSpPr>
        <p:grpSpPr>
          <a:xfrm rot="0">
            <a:off x="914400" y="-71438"/>
            <a:ext cx="16459200" cy="1714500"/>
            <a:chOff x="0" y="0"/>
            <a:chExt cx="21945600" cy="2286000"/>
          </a:xfrm>
        </p:grpSpPr>
        <p:sp>
          <p:nvSpPr>
            <p:cNvPr name="Freeform 5" id="5"/>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2">
                <a:alphaModFix amt="0"/>
              </a:blip>
              <a:stretch>
                <a:fillRect l="0" t="-137056" r="0" b="-137056"/>
              </a:stretch>
            </a:blipFill>
          </p:spPr>
        </p:sp>
        <p:sp>
          <p:nvSpPr>
            <p:cNvPr name="TextBox 6" id="6"/>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b="true">
                  <a:solidFill>
                    <a:srgbClr val="000000"/>
                  </a:solidFill>
                  <a:latin typeface="Times New Roman Bold"/>
                  <a:ea typeface="Times New Roman Bold"/>
                  <a:cs typeface="Times New Roman Bold"/>
                  <a:sym typeface="Times New Roman Bold"/>
                </a:rPr>
                <a:t>FEASIBILITY AND VIABILITY</a:t>
              </a:r>
            </a:p>
          </p:txBody>
        </p:sp>
      </p:grpSp>
      <p:grpSp>
        <p:nvGrpSpPr>
          <p:cNvPr name="Group 7" id="7"/>
          <p:cNvGrpSpPr/>
          <p:nvPr/>
        </p:nvGrpSpPr>
        <p:grpSpPr>
          <a:xfrm rot="0">
            <a:off x="13106400" y="9534525"/>
            <a:ext cx="4267200" cy="547688"/>
            <a:chOff x="0" y="0"/>
            <a:chExt cx="5689600" cy="730250"/>
          </a:xfrm>
        </p:grpSpPr>
        <p:sp>
          <p:nvSpPr>
            <p:cNvPr name="Freeform 8" id="8"/>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2">
                <a:alphaModFix amt="0"/>
              </a:blip>
              <a:stretch>
                <a:fillRect l="0" t="-101813" r="0" b="-101813"/>
              </a:stretch>
            </a:blipFill>
          </p:spPr>
        </p:sp>
        <p:sp>
          <p:nvSpPr>
            <p:cNvPr name="TextBox 9" id="9"/>
            <p:cNvSpPr txBox="true"/>
            <p:nvPr/>
          </p:nvSpPr>
          <p:spPr>
            <a:xfrm>
              <a:off x="0" y="-19050"/>
              <a:ext cx="5689600" cy="749300"/>
            </a:xfrm>
            <a:prstGeom prst="rect">
              <a:avLst/>
            </a:prstGeom>
          </p:spPr>
          <p:txBody>
            <a:bodyPr anchor="ctr" rtlCol="false" tIns="0" lIns="0" bIns="0" rIns="0"/>
            <a:lstStyle/>
            <a:p>
              <a:pPr algn="r">
                <a:lnSpc>
                  <a:spcPts val="2160"/>
                </a:lnSpc>
              </a:pPr>
              <a:r>
                <a:rPr lang="en-US" b="true" sz="1800">
                  <a:solidFill>
                    <a:srgbClr val="FFFFFF"/>
                  </a:solidFill>
                  <a:latin typeface="Arimo Bold"/>
                  <a:ea typeface="Arimo Bold"/>
                  <a:cs typeface="Arimo Bold"/>
                  <a:sym typeface="Arimo Bold"/>
                </a:rPr>
                <a:t>4</a:t>
              </a:r>
            </a:p>
          </p:txBody>
        </p:sp>
      </p:grpSp>
      <p:grpSp>
        <p:nvGrpSpPr>
          <p:cNvPr name="Group 10" id="10"/>
          <p:cNvGrpSpPr/>
          <p:nvPr/>
        </p:nvGrpSpPr>
        <p:grpSpPr>
          <a:xfrm rot="0">
            <a:off x="6972300" y="9534525"/>
            <a:ext cx="4806001" cy="547688"/>
            <a:chOff x="0" y="0"/>
            <a:chExt cx="6408001" cy="730250"/>
          </a:xfrm>
        </p:grpSpPr>
        <p:sp>
          <p:nvSpPr>
            <p:cNvPr name="Freeform 11" id="11"/>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2">
                <a:alphaModFix amt="0"/>
              </a:blip>
              <a:stretch>
                <a:fillRect l="0" t="-120982" r="0" b="-120982"/>
              </a:stretch>
            </a:blipFill>
          </p:spPr>
        </p:sp>
        <p:sp>
          <p:nvSpPr>
            <p:cNvPr name="TextBox 12" id="12"/>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name="Group 13" id="13"/>
          <p:cNvGrpSpPr/>
          <p:nvPr/>
        </p:nvGrpSpPr>
        <p:grpSpPr>
          <a:xfrm rot="0">
            <a:off x="475612" y="359321"/>
            <a:ext cx="1915887" cy="1249101"/>
            <a:chOff x="0" y="0"/>
            <a:chExt cx="2554516" cy="1665468"/>
          </a:xfrm>
        </p:grpSpPr>
        <p:sp>
          <p:nvSpPr>
            <p:cNvPr name="Freeform 14" id="14" descr="Your startup LOGO"/>
            <p:cNvSpPr/>
            <p:nvPr/>
          </p:nvSpPr>
          <p:spPr>
            <a:xfrm flipH="false" flipV="false" rot="0">
              <a:off x="0" y="0"/>
              <a:ext cx="2554478" cy="1665481"/>
            </a:xfrm>
            <a:custGeom>
              <a:avLst/>
              <a:gdLst/>
              <a:ahLst/>
              <a:cxnLst/>
              <a:rect r="r" b="b" t="t" l="l"/>
              <a:pathLst>
                <a:path h="1665481" w="2554478">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name="TextBox 15" id="15"/>
            <p:cNvSpPr txBox="true"/>
            <p:nvPr/>
          </p:nvSpPr>
          <p:spPr>
            <a:xfrm>
              <a:off x="0" y="-57150"/>
              <a:ext cx="2554516" cy="1722618"/>
            </a:xfrm>
            <a:prstGeom prst="rect">
              <a:avLst/>
            </a:prstGeom>
          </p:spPr>
          <p:txBody>
            <a:bodyPr anchor="ctr" rtlCol="false" tIns="50800" lIns="50800" bIns="50800" rIns="50800"/>
            <a:lstStyle/>
            <a:p>
              <a:pPr algn="ctr">
                <a:lnSpc>
                  <a:spcPts val="3240"/>
                </a:lnSpc>
              </a:pPr>
              <a:r>
                <a:rPr lang="en-US" sz="2700">
                  <a:solidFill>
                    <a:srgbClr val="000000"/>
                  </a:solidFill>
                  <a:latin typeface="Calibri (MS)"/>
                  <a:ea typeface="Calibri (MS)"/>
                  <a:cs typeface="Calibri (MS)"/>
                  <a:sym typeface="Calibri (MS)"/>
                </a:rPr>
                <a:t>Shevolution</a:t>
              </a:r>
            </a:p>
          </p:txBody>
        </p:sp>
      </p:grpSp>
      <p:grpSp>
        <p:nvGrpSpPr>
          <p:cNvPr name="Group 16" id="16"/>
          <p:cNvGrpSpPr/>
          <p:nvPr/>
        </p:nvGrpSpPr>
        <p:grpSpPr>
          <a:xfrm rot="0">
            <a:off x="14670129" y="2248"/>
            <a:ext cx="3374774" cy="1593504"/>
            <a:chOff x="0" y="0"/>
            <a:chExt cx="4499699" cy="2124672"/>
          </a:xfrm>
        </p:grpSpPr>
        <p:sp>
          <p:nvSpPr>
            <p:cNvPr name="Freeform 17" id="17"/>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3"/>
              <a:stretch>
                <a:fillRect l="0" t="0" r="0" b="1"/>
              </a:stretch>
            </a:blipFill>
          </p:spPr>
        </p:sp>
      </p:grpSp>
      <p:grpSp>
        <p:nvGrpSpPr>
          <p:cNvPr name="Group 18" id="18"/>
          <p:cNvGrpSpPr/>
          <p:nvPr/>
        </p:nvGrpSpPr>
        <p:grpSpPr>
          <a:xfrm rot="0">
            <a:off x="470535" y="1842135"/>
            <a:ext cx="8454390" cy="3516630"/>
            <a:chOff x="0" y="0"/>
            <a:chExt cx="11272520" cy="4688840"/>
          </a:xfrm>
        </p:grpSpPr>
        <p:sp>
          <p:nvSpPr>
            <p:cNvPr name="Freeform 19" id="19"/>
            <p:cNvSpPr/>
            <p:nvPr/>
          </p:nvSpPr>
          <p:spPr>
            <a:xfrm flipH="false" flipV="false" rot="0">
              <a:off x="0" y="0"/>
              <a:ext cx="11272520" cy="4688840"/>
            </a:xfrm>
            <a:custGeom>
              <a:avLst/>
              <a:gdLst/>
              <a:ahLst/>
              <a:cxnLst/>
              <a:rect r="r" b="b" t="t" l="l"/>
              <a:pathLst>
                <a:path h="4688840" w="11272520">
                  <a:moveTo>
                    <a:pt x="0" y="110363"/>
                  </a:moveTo>
                  <a:cubicBezTo>
                    <a:pt x="0" y="49403"/>
                    <a:pt x="49403" y="0"/>
                    <a:pt x="110363" y="0"/>
                  </a:cubicBezTo>
                  <a:lnTo>
                    <a:pt x="11162157" y="0"/>
                  </a:lnTo>
                  <a:cubicBezTo>
                    <a:pt x="11223117" y="0"/>
                    <a:pt x="11272520" y="49403"/>
                    <a:pt x="11272520" y="110363"/>
                  </a:cubicBezTo>
                  <a:lnTo>
                    <a:pt x="11272520" y="4578477"/>
                  </a:lnTo>
                  <a:cubicBezTo>
                    <a:pt x="11272520" y="4639437"/>
                    <a:pt x="11223117" y="4688840"/>
                    <a:pt x="11162157" y="4688840"/>
                  </a:cubicBezTo>
                  <a:lnTo>
                    <a:pt x="110363" y="4688840"/>
                  </a:lnTo>
                  <a:cubicBezTo>
                    <a:pt x="49403" y="4688840"/>
                    <a:pt x="0" y="4639437"/>
                    <a:pt x="0" y="4578477"/>
                  </a:cubicBezTo>
                  <a:close/>
                </a:path>
              </a:pathLst>
            </a:custGeom>
            <a:solidFill>
              <a:srgbClr val="EEF3FA"/>
            </a:solidFill>
            <a:ln w="19050" cap="sq">
              <a:solidFill>
                <a:srgbClr val="C9D3DE"/>
              </a:solidFill>
              <a:prstDash val="solid"/>
              <a:miter/>
            </a:ln>
          </p:spPr>
        </p:sp>
      </p:grpSp>
      <p:grpSp>
        <p:nvGrpSpPr>
          <p:cNvPr name="Group 20" id="20"/>
          <p:cNvGrpSpPr/>
          <p:nvPr/>
        </p:nvGrpSpPr>
        <p:grpSpPr>
          <a:xfrm rot="0">
            <a:off x="685800" y="1961388"/>
            <a:ext cx="8023860" cy="438912"/>
            <a:chOff x="0" y="0"/>
            <a:chExt cx="10698480" cy="585216"/>
          </a:xfrm>
        </p:grpSpPr>
        <p:sp>
          <p:nvSpPr>
            <p:cNvPr name="Freeform 21" id="21"/>
            <p:cNvSpPr/>
            <p:nvPr/>
          </p:nvSpPr>
          <p:spPr>
            <a:xfrm flipH="false" flipV="false" rot="0">
              <a:off x="0" y="0"/>
              <a:ext cx="10698480" cy="585216"/>
            </a:xfrm>
            <a:custGeom>
              <a:avLst/>
              <a:gdLst/>
              <a:ahLst/>
              <a:cxnLst/>
              <a:rect r="r" b="b" t="t" l="l"/>
              <a:pathLst>
                <a:path h="585216" w="10698480">
                  <a:moveTo>
                    <a:pt x="0" y="0"/>
                  </a:moveTo>
                  <a:lnTo>
                    <a:pt x="10698480" y="0"/>
                  </a:lnTo>
                  <a:lnTo>
                    <a:pt x="10698480" y="585216"/>
                  </a:lnTo>
                  <a:lnTo>
                    <a:pt x="0" y="585216"/>
                  </a:lnTo>
                  <a:close/>
                </a:path>
              </a:pathLst>
            </a:custGeom>
            <a:blipFill>
              <a:blip r:embed="rId2">
                <a:alphaModFix amt="0"/>
              </a:blip>
              <a:stretch>
                <a:fillRect l="0" t="-306210" r="0" b="-306210"/>
              </a:stretch>
            </a:blipFill>
          </p:spPr>
        </p:sp>
        <p:sp>
          <p:nvSpPr>
            <p:cNvPr name="TextBox 22" id="22"/>
            <p:cNvSpPr txBox="true"/>
            <p:nvPr/>
          </p:nvSpPr>
          <p:spPr>
            <a:xfrm>
              <a:off x="0" y="-19050"/>
              <a:ext cx="10698480" cy="604266"/>
            </a:xfrm>
            <a:prstGeom prst="rect">
              <a:avLst/>
            </a:prstGeom>
          </p:spPr>
          <p:txBody>
            <a:bodyPr anchor="ctr" rtlCol="false" tIns="0" lIns="0" bIns="0" rIns="0"/>
            <a:lstStyle/>
            <a:p>
              <a:pPr algn="l">
                <a:lnSpc>
                  <a:spcPts val="2340"/>
                </a:lnSpc>
              </a:pPr>
              <a:r>
                <a:rPr lang="en-US" b="true" sz="1950" u="sng">
                  <a:solidFill>
                    <a:srgbClr val="1C4E80"/>
                  </a:solidFill>
                  <a:latin typeface="Arial Bold"/>
                  <a:ea typeface="Arial Bold"/>
                  <a:cs typeface="Arial Bold"/>
                  <a:sym typeface="Arial Bold"/>
                </a:rPr>
                <a:t>FEASIBILITY</a:t>
              </a:r>
            </a:p>
          </p:txBody>
        </p:sp>
      </p:grpSp>
      <p:sp>
        <p:nvSpPr>
          <p:cNvPr name="TextBox 23" id="23"/>
          <p:cNvSpPr txBox="true"/>
          <p:nvPr/>
        </p:nvSpPr>
        <p:spPr>
          <a:xfrm rot="0">
            <a:off x="686057" y="2408939"/>
            <a:ext cx="8023603" cy="2578163"/>
          </a:xfrm>
          <a:prstGeom prst="rect">
            <a:avLst/>
          </a:prstGeom>
        </p:spPr>
        <p:txBody>
          <a:bodyPr anchor="t" rtlCol="false" tIns="0" lIns="0" bIns="0" rIns="0">
            <a:spAutoFit/>
          </a:bodyPr>
          <a:lstStyle/>
          <a:p>
            <a:pPr algn="l" marL="300136" indent="-150068" lvl="1">
              <a:lnSpc>
                <a:spcPts val="2089"/>
              </a:lnSpc>
              <a:buFont typeface="Arial"/>
              <a:buChar char="•"/>
            </a:pPr>
            <a:r>
              <a:rPr lang="en-US" b="true" sz="1658">
                <a:solidFill>
                  <a:srgbClr val="FC9223"/>
                </a:solidFill>
                <a:latin typeface="Arial Bold"/>
                <a:ea typeface="Arial Bold"/>
                <a:cs typeface="Arial Bold"/>
                <a:sym typeface="Arial Bold"/>
              </a:rPr>
              <a:t>Technically Feasible</a:t>
            </a:r>
            <a:r>
              <a:rPr lang="en-US" b="true" sz="1658">
                <a:solidFill>
                  <a:srgbClr val="0B2545"/>
                </a:solidFill>
                <a:latin typeface="Arial Bold"/>
                <a:ea typeface="Arial Bold"/>
                <a:cs typeface="Arial Bold"/>
                <a:sym typeface="Arial Bold"/>
              </a:rPr>
              <a:t>: Our pipeline has been tested using synthetic data with known answers, and the automated test suite is passing.</a:t>
            </a:r>
          </a:p>
          <a:p>
            <a:pPr algn="l" marL="300136" indent="-150068" lvl="1">
              <a:lnSpc>
                <a:spcPts val="2089"/>
              </a:lnSpc>
              <a:buFont typeface="Arial"/>
              <a:buChar char="•"/>
            </a:pPr>
            <a:r>
              <a:rPr lang="en-US" b="true" sz="1658">
                <a:solidFill>
                  <a:srgbClr val="FC9223"/>
                </a:solidFill>
                <a:latin typeface="Arial Bold"/>
                <a:ea typeface="Arial Bold"/>
                <a:cs typeface="Arial Bold"/>
                <a:sym typeface="Arial Bold"/>
              </a:rPr>
              <a:t>Real Data Support</a:t>
            </a:r>
            <a:r>
              <a:rPr lang="en-US" b="true" sz="1658">
                <a:solidFill>
                  <a:srgbClr val="0B2545"/>
                </a:solidFill>
                <a:latin typeface="Arial Bold"/>
                <a:ea typeface="Arial Bold"/>
                <a:cs typeface="Arial Bold"/>
                <a:sym typeface="Arial Bold"/>
              </a:rPr>
              <a:t>: The system is designed to read Chandrayaan-2 and LRO image formats and convert them into a common format.</a:t>
            </a:r>
          </a:p>
          <a:p>
            <a:pPr algn="l" marL="300136" indent="-150068" lvl="1">
              <a:lnSpc>
                <a:spcPts val="2089"/>
              </a:lnSpc>
              <a:buFont typeface="Arial"/>
              <a:buChar char="•"/>
            </a:pPr>
            <a:r>
              <a:rPr lang="en-US" b="true" sz="1658">
                <a:solidFill>
                  <a:srgbClr val="FC9223"/>
                </a:solidFill>
                <a:latin typeface="Arial Bold"/>
                <a:ea typeface="Arial Bold"/>
                <a:cs typeface="Arial Bold"/>
                <a:sym typeface="Arial Bold"/>
              </a:rPr>
              <a:t>End-to-End Pipeline</a:t>
            </a:r>
            <a:r>
              <a:rPr lang="en-US" b="true" sz="1658">
                <a:solidFill>
                  <a:srgbClr val="0B2545"/>
                </a:solidFill>
                <a:latin typeface="Arial Bold"/>
                <a:ea typeface="Arial Bold"/>
                <a:cs typeface="Arial Bold"/>
                <a:sym typeface="Arial Bold"/>
              </a:rPr>
              <a:t>: The system performs preprocessing, scale alignment, feature matching, incorrect-match removal and accuracy evaluation.</a:t>
            </a:r>
          </a:p>
          <a:p>
            <a:pPr algn="l" marL="300136" indent="-150068" lvl="1">
              <a:lnSpc>
                <a:spcPts val="2089"/>
              </a:lnSpc>
              <a:buFont typeface="Arial"/>
              <a:buChar char="•"/>
            </a:pPr>
            <a:r>
              <a:rPr lang="en-US" b="true" sz="1658">
                <a:solidFill>
                  <a:srgbClr val="FC9223"/>
                </a:solidFill>
                <a:latin typeface="Arial Bold"/>
                <a:ea typeface="Arial Bold"/>
                <a:cs typeface="Arial Bold"/>
                <a:sym typeface="Arial Bold"/>
              </a:rPr>
              <a:t>Open-Source</a:t>
            </a:r>
            <a:r>
              <a:rPr lang="en-US" b="true" sz="1658">
                <a:solidFill>
                  <a:srgbClr val="0B2545"/>
                </a:solidFill>
                <a:latin typeface="Arial Bold"/>
                <a:ea typeface="Arial Bold"/>
                <a:cs typeface="Arial Bold"/>
                <a:sym typeface="Arial Bold"/>
              </a:rPr>
              <a:t>: Built using open-source computer vision and scientific computing tools, reducing software cost.</a:t>
            </a:r>
          </a:p>
          <a:p>
            <a:pPr algn="l" marL="300136" indent="-150068" lvl="1">
              <a:lnSpc>
                <a:spcPts val="2089"/>
              </a:lnSpc>
              <a:buFont typeface="Arial"/>
              <a:buChar char="•"/>
            </a:pPr>
            <a:r>
              <a:rPr lang="en-US" b="true" sz="1658">
                <a:solidFill>
                  <a:srgbClr val="FC9223"/>
                </a:solidFill>
                <a:latin typeface="Arial Bold"/>
                <a:ea typeface="Arial Bold"/>
                <a:cs typeface="Arial Bold"/>
                <a:sym typeface="Arial Bold"/>
              </a:rPr>
              <a:t>Scalable</a:t>
            </a:r>
            <a:r>
              <a:rPr lang="en-US" b="true" sz="1658">
                <a:solidFill>
                  <a:srgbClr val="0B2545"/>
                </a:solidFill>
                <a:latin typeface="Arial Bold"/>
                <a:ea typeface="Arial Bold"/>
                <a:cs typeface="Arial Bold"/>
                <a:sym typeface="Arial Bold"/>
              </a:rPr>
              <a:t>: Large lunar images can be divided into smaller tiles so they can be processed efficiently.</a:t>
            </a:r>
          </a:p>
        </p:txBody>
      </p:sp>
      <p:grpSp>
        <p:nvGrpSpPr>
          <p:cNvPr name="Group 24" id="24"/>
          <p:cNvGrpSpPr/>
          <p:nvPr/>
        </p:nvGrpSpPr>
        <p:grpSpPr>
          <a:xfrm rot="0">
            <a:off x="9248775" y="1842135"/>
            <a:ext cx="8454390" cy="3516630"/>
            <a:chOff x="0" y="0"/>
            <a:chExt cx="11272520" cy="4688840"/>
          </a:xfrm>
        </p:grpSpPr>
        <p:sp>
          <p:nvSpPr>
            <p:cNvPr name="Freeform 25" id="25"/>
            <p:cNvSpPr/>
            <p:nvPr/>
          </p:nvSpPr>
          <p:spPr>
            <a:xfrm flipH="false" flipV="false" rot="0">
              <a:off x="0" y="0"/>
              <a:ext cx="11272520" cy="4688840"/>
            </a:xfrm>
            <a:custGeom>
              <a:avLst/>
              <a:gdLst/>
              <a:ahLst/>
              <a:cxnLst/>
              <a:rect r="r" b="b" t="t" l="l"/>
              <a:pathLst>
                <a:path h="4688840" w="11272520">
                  <a:moveTo>
                    <a:pt x="0" y="110363"/>
                  </a:moveTo>
                  <a:cubicBezTo>
                    <a:pt x="0" y="49403"/>
                    <a:pt x="49403" y="0"/>
                    <a:pt x="110363" y="0"/>
                  </a:cubicBezTo>
                  <a:lnTo>
                    <a:pt x="11162157" y="0"/>
                  </a:lnTo>
                  <a:cubicBezTo>
                    <a:pt x="11223117" y="0"/>
                    <a:pt x="11272520" y="49403"/>
                    <a:pt x="11272520" y="110363"/>
                  </a:cubicBezTo>
                  <a:lnTo>
                    <a:pt x="11272520" y="4578477"/>
                  </a:lnTo>
                  <a:cubicBezTo>
                    <a:pt x="11272520" y="4639437"/>
                    <a:pt x="11223117" y="4688840"/>
                    <a:pt x="11162157" y="4688840"/>
                  </a:cubicBezTo>
                  <a:lnTo>
                    <a:pt x="110363" y="4688840"/>
                  </a:lnTo>
                  <a:cubicBezTo>
                    <a:pt x="49403" y="4688840"/>
                    <a:pt x="0" y="4639437"/>
                    <a:pt x="0" y="4578477"/>
                  </a:cubicBezTo>
                  <a:close/>
                </a:path>
              </a:pathLst>
            </a:custGeom>
            <a:solidFill>
              <a:srgbClr val="EFF7F1"/>
            </a:solidFill>
            <a:ln w="19050" cap="sq">
              <a:solidFill>
                <a:srgbClr val="C9D3DE"/>
              </a:solidFill>
              <a:prstDash val="solid"/>
              <a:miter/>
            </a:ln>
          </p:spPr>
        </p:sp>
      </p:grpSp>
      <p:grpSp>
        <p:nvGrpSpPr>
          <p:cNvPr name="Group 26" id="26"/>
          <p:cNvGrpSpPr/>
          <p:nvPr/>
        </p:nvGrpSpPr>
        <p:grpSpPr>
          <a:xfrm rot="0">
            <a:off x="9464040" y="1961388"/>
            <a:ext cx="8023860" cy="438912"/>
            <a:chOff x="0" y="0"/>
            <a:chExt cx="10698480" cy="585216"/>
          </a:xfrm>
        </p:grpSpPr>
        <p:sp>
          <p:nvSpPr>
            <p:cNvPr name="Freeform 27" id="27"/>
            <p:cNvSpPr/>
            <p:nvPr/>
          </p:nvSpPr>
          <p:spPr>
            <a:xfrm flipH="false" flipV="false" rot="0">
              <a:off x="0" y="0"/>
              <a:ext cx="10698480" cy="585216"/>
            </a:xfrm>
            <a:custGeom>
              <a:avLst/>
              <a:gdLst/>
              <a:ahLst/>
              <a:cxnLst/>
              <a:rect r="r" b="b" t="t" l="l"/>
              <a:pathLst>
                <a:path h="585216" w="10698480">
                  <a:moveTo>
                    <a:pt x="0" y="0"/>
                  </a:moveTo>
                  <a:lnTo>
                    <a:pt x="10698480" y="0"/>
                  </a:lnTo>
                  <a:lnTo>
                    <a:pt x="10698480" y="585216"/>
                  </a:lnTo>
                  <a:lnTo>
                    <a:pt x="0" y="585216"/>
                  </a:lnTo>
                  <a:close/>
                </a:path>
              </a:pathLst>
            </a:custGeom>
            <a:blipFill>
              <a:blip r:embed="rId2">
                <a:alphaModFix amt="0"/>
              </a:blip>
              <a:stretch>
                <a:fillRect l="0" t="-306210" r="0" b="-306210"/>
              </a:stretch>
            </a:blipFill>
          </p:spPr>
        </p:sp>
        <p:sp>
          <p:nvSpPr>
            <p:cNvPr name="TextBox 28" id="28"/>
            <p:cNvSpPr txBox="true"/>
            <p:nvPr/>
          </p:nvSpPr>
          <p:spPr>
            <a:xfrm>
              <a:off x="0" y="-19050"/>
              <a:ext cx="10698480" cy="604266"/>
            </a:xfrm>
            <a:prstGeom prst="rect">
              <a:avLst/>
            </a:prstGeom>
          </p:spPr>
          <p:txBody>
            <a:bodyPr anchor="ctr" rtlCol="false" tIns="0" lIns="0" bIns="0" rIns="0"/>
            <a:lstStyle/>
            <a:p>
              <a:pPr algn="l">
                <a:lnSpc>
                  <a:spcPts val="2340"/>
                </a:lnSpc>
              </a:pPr>
              <a:r>
                <a:rPr lang="en-US" b="true" sz="1950" u="sng">
                  <a:solidFill>
                    <a:srgbClr val="1F7A54"/>
                  </a:solidFill>
                  <a:latin typeface="Arial Bold"/>
                  <a:ea typeface="Arial Bold"/>
                  <a:cs typeface="Arial Bold"/>
                  <a:sym typeface="Arial Bold"/>
                </a:rPr>
                <a:t>VIABILITY</a:t>
              </a:r>
            </a:p>
          </p:txBody>
        </p:sp>
      </p:grpSp>
      <p:sp>
        <p:nvSpPr>
          <p:cNvPr name="TextBox 29" id="29"/>
          <p:cNvSpPr txBox="true"/>
          <p:nvPr/>
        </p:nvSpPr>
        <p:spPr>
          <a:xfrm rot="0">
            <a:off x="9464297" y="2399414"/>
            <a:ext cx="8238868" cy="2587821"/>
          </a:xfrm>
          <a:prstGeom prst="rect">
            <a:avLst/>
          </a:prstGeom>
        </p:spPr>
        <p:txBody>
          <a:bodyPr anchor="t" rtlCol="false" tIns="0" lIns="0" bIns="0" rIns="0">
            <a:spAutoFit/>
          </a:bodyPr>
          <a:lstStyle/>
          <a:p>
            <a:pPr algn="l" marL="296977" indent="-148489" lvl="1">
              <a:lnSpc>
                <a:spcPts val="2067"/>
              </a:lnSpc>
              <a:buFont typeface="Arial"/>
              <a:buChar char="•"/>
            </a:pPr>
            <a:r>
              <a:rPr lang="en-US" b="true" sz="1640">
                <a:solidFill>
                  <a:srgbClr val="FC9223"/>
                </a:solidFill>
                <a:latin typeface="Arial Bold"/>
                <a:ea typeface="Arial Bold"/>
                <a:cs typeface="Arial Bold"/>
                <a:sym typeface="Arial Bold"/>
              </a:rPr>
              <a:t>Reduces Manual Work</a:t>
            </a:r>
            <a:r>
              <a:rPr lang="en-US" b="true" sz="1640">
                <a:solidFill>
                  <a:srgbClr val="0B2545"/>
                </a:solidFill>
                <a:latin typeface="Arial Bold"/>
                <a:ea typeface="Arial Bold"/>
                <a:cs typeface="Arial Bold"/>
                <a:sym typeface="Arial Bold"/>
              </a:rPr>
              <a:t>: Automates the identification of corresponding points that currently requires significant manual effort.</a:t>
            </a:r>
          </a:p>
          <a:p>
            <a:pPr algn="l" marL="296977" indent="-148489" lvl="1">
              <a:lnSpc>
                <a:spcPts val="2067"/>
              </a:lnSpc>
              <a:buFont typeface="Arial"/>
              <a:buChar char="•"/>
            </a:pPr>
            <a:r>
              <a:rPr lang="en-US" b="true" sz="1640">
                <a:solidFill>
                  <a:srgbClr val="FC9223"/>
                </a:solidFill>
                <a:latin typeface="Arial Bold"/>
                <a:ea typeface="Arial Bold"/>
                <a:cs typeface="Arial Bold"/>
                <a:sym typeface="Arial Bold"/>
              </a:rPr>
              <a:t>Works Across Missions</a:t>
            </a:r>
            <a:r>
              <a:rPr lang="en-US" b="true" sz="1640">
                <a:solidFill>
                  <a:srgbClr val="0B2545"/>
                </a:solidFill>
                <a:latin typeface="Arial Bold"/>
                <a:ea typeface="Arial Bold"/>
                <a:cs typeface="Arial Bold"/>
                <a:sym typeface="Arial Bold"/>
              </a:rPr>
              <a:t>: The same pipeline can process Chandrayaan-2 and LRO images despite differences in resolution and imaging conditions.</a:t>
            </a:r>
          </a:p>
          <a:p>
            <a:pPr algn="l" marL="296977" indent="-148489" lvl="1">
              <a:lnSpc>
                <a:spcPts val="2067"/>
              </a:lnSpc>
              <a:buFont typeface="Arial"/>
              <a:buChar char="•"/>
            </a:pPr>
            <a:r>
              <a:rPr lang="en-US" b="true" sz="1640">
                <a:solidFill>
                  <a:srgbClr val="FC9223"/>
                </a:solidFill>
                <a:latin typeface="Arial Bold"/>
                <a:ea typeface="Arial Bold"/>
                <a:cs typeface="Arial Bold"/>
                <a:sym typeface="Arial Bold"/>
              </a:rPr>
              <a:t>Handles Illumination Changes</a:t>
            </a:r>
            <a:r>
              <a:rPr lang="en-US" b="true" sz="1640">
                <a:solidFill>
                  <a:srgbClr val="0B2545"/>
                </a:solidFill>
                <a:latin typeface="Arial Bold"/>
                <a:ea typeface="Arial Bold"/>
                <a:cs typeface="Arial Bold"/>
                <a:sym typeface="Arial Bold"/>
              </a:rPr>
              <a:t>: We test SIFT, Mod-π and LightGlue under different Sun-angle conditions.</a:t>
            </a:r>
          </a:p>
          <a:p>
            <a:pPr algn="l" marL="296977" indent="-148489" lvl="1">
              <a:lnSpc>
                <a:spcPts val="2067"/>
              </a:lnSpc>
              <a:buFont typeface="Arial"/>
              <a:buChar char="•"/>
            </a:pPr>
            <a:r>
              <a:rPr lang="en-US" b="true" sz="1640">
                <a:solidFill>
                  <a:srgbClr val="FC9223"/>
                </a:solidFill>
                <a:latin typeface="Arial Bold"/>
                <a:ea typeface="Arial Bold"/>
                <a:cs typeface="Arial Bold"/>
                <a:sym typeface="Arial Bold"/>
              </a:rPr>
              <a:t>Quality Checking</a:t>
            </a:r>
            <a:r>
              <a:rPr lang="en-US" b="true" sz="1640">
                <a:solidFill>
                  <a:srgbClr val="0B2545"/>
                </a:solidFill>
                <a:latin typeface="Arial Bold"/>
                <a:ea typeface="Arial Bold"/>
                <a:cs typeface="Arial Bold"/>
                <a:sym typeface="Arial Bold"/>
              </a:rPr>
              <a:t>: RMSE, inlier count and spatial coverage help determine whether a registration can be trusted.</a:t>
            </a:r>
          </a:p>
          <a:p>
            <a:pPr algn="l" marL="296977" indent="-148489" lvl="1">
              <a:lnSpc>
                <a:spcPts val="2067"/>
              </a:lnSpc>
              <a:buFont typeface="Arial"/>
              <a:buChar char="•"/>
            </a:pPr>
            <a:r>
              <a:rPr lang="en-US" b="true" sz="1640">
                <a:solidFill>
                  <a:srgbClr val="FC9223"/>
                </a:solidFill>
                <a:latin typeface="Arial Bold"/>
                <a:ea typeface="Arial Bold"/>
                <a:cs typeface="Arial Bold"/>
                <a:sym typeface="Arial Bold"/>
              </a:rPr>
              <a:t>Easy Integration</a:t>
            </a:r>
            <a:r>
              <a:rPr lang="en-US" b="true" sz="1640">
                <a:solidFill>
                  <a:srgbClr val="0B2545"/>
                </a:solidFill>
                <a:latin typeface="Arial Bold"/>
                <a:ea typeface="Arial Bold"/>
                <a:cs typeface="Arial Bold"/>
                <a:sym typeface="Arial Bold"/>
              </a:rPr>
              <a:t>: Verified match points can be exported as an ISIS Control Network for downstream photogrammetry.</a:t>
            </a:r>
          </a:p>
        </p:txBody>
      </p:sp>
      <p:grpSp>
        <p:nvGrpSpPr>
          <p:cNvPr name="Group 30" id="30"/>
          <p:cNvGrpSpPr/>
          <p:nvPr/>
        </p:nvGrpSpPr>
        <p:grpSpPr>
          <a:xfrm rot="0">
            <a:off x="470535" y="6244971"/>
            <a:ext cx="8454390" cy="2913126"/>
            <a:chOff x="0" y="0"/>
            <a:chExt cx="11272520" cy="3884168"/>
          </a:xfrm>
        </p:grpSpPr>
        <p:sp>
          <p:nvSpPr>
            <p:cNvPr name="Freeform 31" id="31"/>
            <p:cNvSpPr/>
            <p:nvPr/>
          </p:nvSpPr>
          <p:spPr>
            <a:xfrm flipH="false" flipV="false" rot="0">
              <a:off x="0" y="0"/>
              <a:ext cx="11272520" cy="3884168"/>
            </a:xfrm>
            <a:custGeom>
              <a:avLst/>
              <a:gdLst/>
              <a:ahLst/>
              <a:cxnLst/>
              <a:rect r="r" b="b" t="t" l="l"/>
              <a:pathLst>
                <a:path h="3884168" w="11272520">
                  <a:moveTo>
                    <a:pt x="0" y="110490"/>
                  </a:moveTo>
                  <a:cubicBezTo>
                    <a:pt x="0" y="49403"/>
                    <a:pt x="49403" y="0"/>
                    <a:pt x="110490" y="0"/>
                  </a:cubicBezTo>
                  <a:lnTo>
                    <a:pt x="11162030" y="0"/>
                  </a:lnTo>
                  <a:cubicBezTo>
                    <a:pt x="11222990" y="0"/>
                    <a:pt x="11272520" y="49403"/>
                    <a:pt x="11272520" y="110490"/>
                  </a:cubicBezTo>
                  <a:lnTo>
                    <a:pt x="11272520" y="3773678"/>
                  </a:lnTo>
                  <a:cubicBezTo>
                    <a:pt x="11272520" y="3834638"/>
                    <a:pt x="11223117" y="3884168"/>
                    <a:pt x="11162030" y="3884168"/>
                  </a:cubicBezTo>
                  <a:lnTo>
                    <a:pt x="110490" y="3884168"/>
                  </a:lnTo>
                  <a:cubicBezTo>
                    <a:pt x="49530" y="3884168"/>
                    <a:pt x="0" y="3834765"/>
                    <a:pt x="0" y="3773678"/>
                  </a:cubicBezTo>
                  <a:close/>
                </a:path>
              </a:pathLst>
            </a:custGeom>
            <a:solidFill>
              <a:srgbClr val="FFFFFF"/>
            </a:solidFill>
            <a:ln w="19050" cap="sq">
              <a:solidFill>
                <a:srgbClr val="C9D3DE"/>
              </a:solidFill>
              <a:prstDash val="solid"/>
              <a:miter/>
            </a:ln>
          </p:spPr>
        </p:sp>
      </p:grpSp>
      <p:grpSp>
        <p:nvGrpSpPr>
          <p:cNvPr name="Group 32" id="32"/>
          <p:cNvGrpSpPr/>
          <p:nvPr/>
        </p:nvGrpSpPr>
        <p:grpSpPr>
          <a:xfrm rot="0">
            <a:off x="9248775" y="6244971"/>
            <a:ext cx="8454390" cy="2913126"/>
            <a:chOff x="0" y="0"/>
            <a:chExt cx="11272520" cy="3884168"/>
          </a:xfrm>
        </p:grpSpPr>
        <p:sp>
          <p:nvSpPr>
            <p:cNvPr name="Freeform 33" id="33"/>
            <p:cNvSpPr/>
            <p:nvPr/>
          </p:nvSpPr>
          <p:spPr>
            <a:xfrm flipH="false" flipV="false" rot="0">
              <a:off x="0" y="0"/>
              <a:ext cx="11272520" cy="3884168"/>
            </a:xfrm>
            <a:custGeom>
              <a:avLst/>
              <a:gdLst/>
              <a:ahLst/>
              <a:cxnLst/>
              <a:rect r="r" b="b" t="t" l="l"/>
              <a:pathLst>
                <a:path h="3884168" w="11272520">
                  <a:moveTo>
                    <a:pt x="0" y="110490"/>
                  </a:moveTo>
                  <a:cubicBezTo>
                    <a:pt x="0" y="49403"/>
                    <a:pt x="49403" y="0"/>
                    <a:pt x="110490" y="0"/>
                  </a:cubicBezTo>
                  <a:lnTo>
                    <a:pt x="11162030" y="0"/>
                  </a:lnTo>
                  <a:cubicBezTo>
                    <a:pt x="11222990" y="0"/>
                    <a:pt x="11272520" y="49403"/>
                    <a:pt x="11272520" y="110490"/>
                  </a:cubicBezTo>
                  <a:lnTo>
                    <a:pt x="11272520" y="3773678"/>
                  </a:lnTo>
                  <a:cubicBezTo>
                    <a:pt x="11272520" y="3834638"/>
                    <a:pt x="11223117" y="3884168"/>
                    <a:pt x="11162030" y="3884168"/>
                  </a:cubicBezTo>
                  <a:lnTo>
                    <a:pt x="110490" y="3884168"/>
                  </a:lnTo>
                  <a:cubicBezTo>
                    <a:pt x="49530" y="3884168"/>
                    <a:pt x="0" y="3834765"/>
                    <a:pt x="0" y="3773678"/>
                  </a:cubicBezTo>
                  <a:close/>
                </a:path>
              </a:pathLst>
            </a:custGeom>
            <a:solidFill>
              <a:srgbClr val="FFFFFF"/>
            </a:solidFill>
            <a:ln w="19050" cap="sq">
              <a:solidFill>
                <a:srgbClr val="C9D3DE"/>
              </a:solidFill>
              <a:prstDash val="solid"/>
              <a:miter/>
            </a:ln>
          </p:spPr>
        </p:sp>
      </p:grpSp>
      <p:grpSp>
        <p:nvGrpSpPr>
          <p:cNvPr name="Group 34" id="34"/>
          <p:cNvGrpSpPr/>
          <p:nvPr/>
        </p:nvGrpSpPr>
        <p:grpSpPr>
          <a:xfrm rot="0">
            <a:off x="480060" y="5650992"/>
            <a:ext cx="8435340" cy="493776"/>
            <a:chOff x="0" y="0"/>
            <a:chExt cx="11247120" cy="658368"/>
          </a:xfrm>
        </p:grpSpPr>
        <p:sp>
          <p:nvSpPr>
            <p:cNvPr name="Freeform 35" id="35"/>
            <p:cNvSpPr/>
            <p:nvPr/>
          </p:nvSpPr>
          <p:spPr>
            <a:xfrm flipH="false" flipV="false" rot="0">
              <a:off x="0" y="0"/>
              <a:ext cx="11247120" cy="658368"/>
            </a:xfrm>
            <a:custGeom>
              <a:avLst/>
              <a:gdLst/>
              <a:ahLst/>
              <a:cxnLst/>
              <a:rect r="r" b="b" t="t" l="l"/>
              <a:pathLst>
                <a:path h="658368" w="11247120">
                  <a:moveTo>
                    <a:pt x="0" y="128016"/>
                  </a:moveTo>
                  <a:cubicBezTo>
                    <a:pt x="0" y="57277"/>
                    <a:pt x="57277" y="0"/>
                    <a:pt x="128016" y="0"/>
                  </a:cubicBezTo>
                  <a:lnTo>
                    <a:pt x="11119104" y="0"/>
                  </a:lnTo>
                  <a:cubicBezTo>
                    <a:pt x="11189843" y="0"/>
                    <a:pt x="11247120" y="57277"/>
                    <a:pt x="11247120" y="128016"/>
                  </a:cubicBezTo>
                  <a:lnTo>
                    <a:pt x="11247120" y="530352"/>
                  </a:lnTo>
                  <a:cubicBezTo>
                    <a:pt x="11247120" y="601091"/>
                    <a:pt x="11189843" y="658368"/>
                    <a:pt x="11119104" y="658368"/>
                  </a:cubicBezTo>
                  <a:lnTo>
                    <a:pt x="128016" y="658368"/>
                  </a:lnTo>
                  <a:cubicBezTo>
                    <a:pt x="57277" y="658368"/>
                    <a:pt x="0" y="601091"/>
                    <a:pt x="0" y="530352"/>
                  </a:cubicBezTo>
                  <a:close/>
                </a:path>
              </a:pathLst>
            </a:custGeom>
            <a:solidFill>
              <a:srgbClr val="55606B"/>
            </a:solidFill>
          </p:spPr>
        </p:sp>
      </p:grpSp>
      <p:grpSp>
        <p:nvGrpSpPr>
          <p:cNvPr name="Group 36" id="36"/>
          <p:cNvGrpSpPr/>
          <p:nvPr/>
        </p:nvGrpSpPr>
        <p:grpSpPr>
          <a:xfrm rot="0">
            <a:off x="9258300" y="5650992"/>
            <a:ext cx="8435340" cy="493776"/>
            <a:chOff x="0" y="0"/>
            <a:chExt cx="11247120" cy="658368"/>
          </a:xfrm>
        </p:grpSpPr>
        <p:sp>
          <p:nvSpPr>
            <p:cNvPr name="Freeform 37" id="37"/>
            <p:cNvSpPr/>
            <p:nvPr/>
          </p:nvSpPr>
          <p:spPr>
            <a:xfrm flipH="false" flipV="false" rot="0">
              <a:off x="0" y="0"/>
              <a:ext cx="11247120" cy="658368"/>
            </a:xfrm>
            <a:custGeom>
              <a:avLst/>
              <a:gdLst/>
              <a:ahLst/>
              <a:cxnLst/>
              <a:rect r="r" b="b" t="t" l="l"/>
              <a:pathLst>
                <a:path h="658368" w="11247120">
                  <a:moveTo>
                    <a:pt x="0" y="128016"/>
                  </a:moveTo>
                  <a:cubicBezTo>
                    <a:pt x="0" y="57277"/>
                    <a:pt x="57277" y="0"/>
                    <a:pt x="128016" y="0"/>
                  </a:cubicBezTo>
                  <a:lnTo>
                    <a:pt x="11119104" y="0"/>
                  </a:lnTo>
                  <a:cubicBezTo>
                    <a:pt x="11189843" y="0"/>
                    <a:pt x="11247120" y="57277"/>
                    <a:pt x="11247120" y="128016"/>
                  </a:cubicBezTo>
                  <a:lnTo>
                    <a:pt x="11247120" y="530352"/>
                  </a:lnTo>
                  <a:cubicBezTo>
                    <a:pt x="11247120" y="601091"/>
                    <a:pt x="11189843" y="658368"/>
                    <a:pt x="11119104" y="658368"/>
                  </a:cubicBezTo>
                  <a:lnTo>
                    <a:pt x="128016" y="658368"/>
                  </a:lnTo>
                  <a:cubicBezTo>
                    <a:pt x="57277" y="658368"/>
                    <a:pt x="0" y="601091"/>
                    <a:pt x="0" y="530352"/>
                  </a:cubicBezTo>
                  <a:close/>
                </a:path>
              </a:pathLst>
            </a:custGeom>
            <a:solidFill>
              <a:srgbClr val="55606B"/>
            </a:solidFill>
          </p:spPr>
        </p:sp>
      </p:grpSp>
      <p:grpSp>
        <p:nvGrpSpPr>
          <p:cNvPr name="Group 38" id="38"/>
          <p:cNvGrpSpPr/>
          <p:nvPr/>
        </p:nvGrpSpPr>
        <p:grpSpPr>
          <a:xfrm rot="0">
            <a:off x="589788" y="5733288"/>
            <a:ext cx="329184" cy="329184"/>
            <a:chOff x="0" y="0"/>
            <a:chExt cx="438912" cy="438912"/>
          </a:xfrm>
        </p:grpSpPr>
        <p:sp>
          <p:nvSpPr>
            <p:cNvPr name="Freeform 39" id="39" descr="/tmp/outputs/deck_assets/warn_white.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4"/>
              <a:stretch>
                <a:fillRect l="0" t="0" r="0" b="0"/>
              </a:stretch>
            </a:blipFill>
          </p:spPr>
        </p:sp>
      </p:grpSp>
      <p:grpSp>
        <p:nvGrpSpPr>
          <p:cNvPr name="Group 40" id="40"/>
          <p:cNvGrpSpPr/>
          <p:nvPr/>
        </p:nvGrpSpPr>
        <p:grpSpPr>
          <a:xfrm rot="0">
            <a:off x="946404" y="5650992"/>
            <a:ext cx="7804404" cy="493776"/>
            <a:chOff x="0" y="0"/>
            <a:chExt cx="10405872" cy="658368"/>
          </a:xfrm>
        </p:grpSpPr>
        <p:sp>
          <p:nvSpPr>
            <p:cNvPr name="Freeform 41" id="41"/>
            <p:cNvSpPr/>
            <p:nvPr/>
          </p:nvSpPr>
          <p:spPr>
            <a:xfrm flipH="false" flipV="false" rot="0">
              <a:off x="0" y="0"/>
              <a:ext cx="10405872" cy="658368"/>
            </a:xfrm>
            <a:custGeom>
              <a:avLst/>
              <a:gdLst/>
              <a:ahLst/>
              <a:cxnLst/>
              <a:rect r="r" b="b" t="t" l="l"/>
              <a:pathLst>
                <a:path h="658368" w="10405872">
                  <a:moveTo>
                    <a:pt x="0" y="0"/>
                  </a:moveTo>
                  <a:lnTo>
                    <a:pt x="10405872" y="0"/>
                  </a:lnTo>
                  <a:lnTo>
                    <a:pt x="10405872" y="658368"/>
                  </a:lnTo>
                  <a:lnTo>
                    <a:pt x="0" y="658368"/>
                  </a:lnTo>
                  <a:close/>
                </a:path>
              </a:pathLst>
            </a:custGeom>
            <a:blipFill>
              <a:blip r:embed="rId2">
                <a:alphaModFix amt="0"/>
              </a:blip>
              <a:stretch>
                <a:fillRect l="0" t="-257971" r="0" b="-257971"/>
              </a:stretch>
            </a:blipFill>
          </p:spPr>
        </p:sp>
        <p:sp>
          <p:nvSpPr>
            <p:cNvPr name="TextBox 42" id="42"/>
            <p:cNvSpPr txBox="true"/>
            <p:nvPr/>
          </p:nvSpPr>
          <p:spPr>
            <a:xfrm>
              <a:off x="0" y="-28575"/>
              <a:ext cx="10405872" cy="686943"/>
            </a:xfrm>
            <a:prstGeom prst="rect">
              <a:avLst/>
            </a:prstGeom>
          </p:spPr>
          <p:txBody>
            <a:bodyPr anchor="ctr" rtlCol="false" tIns="0" lIns="0" bIns="0" rIns="0"/>
            <a:lstStyle/>
            <a:p>
              <a:pPr algn="l">
                <a:lnSpc>
                  <a:spcPts val="2250"/>
                </a:lnSpc>
              </a:pPr>
              <a:r>
                <a:rPr lang="en-US" b="true" sz="1875" spc="75">
                  <a:solidFill>
                    <a:srgbClr val="FFFFFF"/>
                  </a:solidFill>
                  <a:latin typeface="Arial Bold"/>
                  <a:ea typeface="Arial Bold"/>
                  <a:cs typeface="Arial Bold"/>
                  <a:sym typeface="Arial Bold"/>
                </a:rPr>
                <a:t>TECHNICAL CHALLENGES</a:t>
              </a:r>
            </a:p>
          </p:txBody>
        </p:sp>
      </p:grpSp>
      <p:grpSp>
        <p:nvGrpSpPr>
          <p:cNvPr name="Group 43" id="43"/>
          <p:cNvGrpSpPr/>
          <p:nvPr/>
        </p:nvGrpSpPr>
        <p:grpSpPr>
          <a:xfrm rot="0">
            <a:off x="9368028" y="5733288"/>
            <a:ext cx="329184" cy="329184"/>
            <a:chOff x="0" y="0"/>
            <a:chExt cx="438912" cy="438912"/>
          </a:xfrm>
        </p:grpSpPr>
        <p:sp>
          <p:nvSpPr>
            <p:cNvPr name="Freeform 44" id="44" descr="/tmp/outputs/deck_assets/warn_white.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4"/>
              <a:stretch>
                <a:fillRect l="0" t="0" r="0" b="0"/>
              </a:stretch>
            </a:blipFill>
          </p:spPr>
        </p:sp>
      </p:grpSp>
      <p:grpSp>
        <p:nvGrpSpPr>
          <p:cNvPr name="Group 45" id="45"/>
          <p:cNvGrpSpPr/>
          <p:nvPr/>
        </p:nvGrpSpPr>
        <p:grpSpPr>
          <a:xfrm rot="0">
            <a:off x="9724644" y="5650992"/>
            <a:ext cx="7804404" cy="493776"/>
            <a:chOff x="0" y="0"/>
            <a:chExt cx="10405872" cy="658368"/>
          </a:xfrm>
        </p:grpSpPr>
        <p:sp>
          <p:nvSpPr>
            <p:cNvPr name="Freeform 46" id="46"/>
            <p:cNvSpPr/>
            <p:nvPr/>
          </p:nvSpPr>
          <p:spPr>
            <a:xfrm flipH="false" flipV="false" rot="0">
              <a:off x="0" y="0"/>
              <a:ext cx="10405872" cy="658368"/>
            </a:xfrm>
            <a:custGeom>
              <a:avLst/>
              <a:gdLst/>
              <a:ahLst/>
              <a:cxnLst/>
              <a:rect r="r" b="b" t="t" l="l"/>
              <a:pathLst>
                <a:path h="658368" w="10405872">
                  <a:moveTo>
                    <a:pt x="0" y="0"/>
                  </a:moveTo>
                  <a:lnTo>
                    <a:pt x="10405872" y="0"/>
                  </a:lnTo>
                  <a:lnTo>
                    <a:pt x="10405872" y="658368"/>
                  </a:lnTo>
                  <a:lnTo>
                    <a:pt x="0" y="658368"/>
                  </a:lnTo>
                  <a:close/>
                </a:path>
              </a:pathLst>
            </a:custGeom>
            <a:blipFill>
              <a:blip r:embed="rId2">
                <a:alphaModFix amt="0"/>
              </a:blip>
              <a:stretch>
                <a:fillRect l="0" t="-257971" r="0" b="-257971"/>
              </a:stretch>
            </a:blipFill>
          </p:spPr>
        </p:sp>
        <p:sp>
          <p:nvSpPr>
            <p:cNvPr name="TextBox 47" id="47"/>
            <p:cNvSpPr txBox="true"/>
            <p:nvPr/>
          </p:nvSpPr>
          <p:spPr>
            <a:xfrm>
              <a:off x="0" y="-28575"/>
              <a:ext cx="10405872" cy="686943"/>
            </a:xfrm>
            <a:prstGeom prst="rect">
              <a:avLst/>
            </a:prstGeom>
          </p:spPr>
          <p:txBody>
            <a:bodyPr anchor="ctr" rtlCol="false" tIns="0" lIns="0" bIns="0" rIns="0"/>
            <a:lstStyle/>
            <a:p>
              <a:pPr algn="l">
                <a:lnSpc>
                  <a:spcPts val="2250"/>
                </a:lnSpc>
              </a:pPr>
              <a:r>
                <a:rPr lang="en-US" b="true" sz="1875" spc="75">
                  <a:solidFill>
                    <a:srgbClr val="FFFFFF"/>
                  </a:solidFill>
                  <a:latin typeface="Arial Bold"/>
                  <a:ea typeface="Arial Bold"/>
                  <a:cs typeface="Arial Bold"/>
                  <a:sym typeface="Arial Bold"/>
                </a:rPr>
                <a:t>BUSINESS / USER CHALLENGES</a:t>
              </a:r>
            </a:p>
          </p:txBody>
        </p:sp>
      </p:grpSp>
      <p:sp>
        <p:nvSpPr>
          <p:cNvPr name="TextBox 48" id="48"/>
          <p:cNvSpPr txBox="true"/>
          <p:nvPr/>
        </p:nvSpPr>
        <p:spPr>
          <a:xfrm rot="0">
            <a:off x="9464040" y="6440043"/>
            <a:ext cx="8065008" cy="2402623"/>
          </a:xfrm>
          <a:prstGeom prst="rect">
            <a:avLst/>
          </a:prstGeom>
        </p:spPr>
        <p:txBody>
          <a:bodyPr anchor="t" rtlCol="false" tIns="0" lIns="0" bIns="0" rIns="0">
            <a:spAutoFit/>
          </a:bodyPr>
          <a:lstStyle/>
          <a:p>
            <a:pPr algn="l" marL="383273" indent="-191636" lvl="1">
              <a:lnSpc>
                <a:spcPts val="2130"/>
              </a:lnSpc>
              <a:buFont typeface="Arial"/>
              <a:buChar char="•"/>
            </a:pPr>
            <a:r>
              <a:rPr lang="en-US" b="true" sz="1775">
                <a:solidFill>
                  <a:srgbClr val="FC9223"/>
                </a:solidFill>
                <a:latin typeface="Arimo Bold"/>
                <a:ea typeface="Arimo Bold"/>
                <a:cs typeface="Arimo Bold"/>
                <a:sym typeface="Arimo Bold"/>
              </a:rPr>
              <a:t>Manual Effort: </a:t>
            </a:r>
            <a:r>
              <a:rPr lang="en-US" b="true" sz="1775">
                <a:solidFill>
                  <a:srgbClr val="000000"/>
                </a:solidFill>
                <a:latin typeface="Arimo Bold"/>
                <a:ea typeface="Arimo Bold"/>
                <a:cs typeface="Arimo Bold"/>
                <a:sym typeface="Arimo Bold"/>
              </a:rPr>
              <a:t>Identifying reliable tie points manually is time-consuming, especially for large datasets.</a:t>
            </a:r>
          </a:p>
          <a:p>
            <a:pPr algn="l" marL="383273" indent="-191636" lvl="1">
              <a:lnSpc>
                <a:spcPts val="2130"/>
              </a:lnSpc>
              <a:buFont typeface="Arial"/>
              <a:buChar char="•"/>
            </a:pPr>
            <a:r>
              <a:rPr lang="en-US" b="true" sz="1775">
                <a:solidFill>
                  <a:srgbClr val="FC9223"/>
                </a:solidFill>
                <a:latin typeface="Arimo Bold"/>
                <a:ea typeface="Arimo Bold"/>
                <a:cs typeface="Arimo Bold"/>
                <a:sym typeface="Arimo Bold"/>
              </a:rPr>
              <a:t>Tru</a:t>
            </a:r>
            <a:r>
              <a:rPr lang="en-US" b="true" sz="1775">
                <a:solidFill>
                  <a:srgbClr val="FC9223"/>
                </a:solidFill>
                <a:latin typeface="Arimo Bold"/>
                <a:ea typeface="Arimo Bold"/>
                <a:cs typeface="Arimo Bold"/>
                <a:sym typeface="Arimo Bold"/>
              </a:rPr>
              <a:t>st in Automation: </a:t>
            </a:r>
            <a:r>
              <a:rPr lang="en-US" b="true" sz="1775">
                <a:solidFill>
                  <a:srgbClr val="000000"/>
                </a:solidFill>
                <a:latin typeface="Arimo Bold"/>
                <a:ea typeface="Arimo Bold"/>
                <a:cs typeface="Arimo Bold"/>
                <a:sym typeface="Arimo Bold"/>
              </a:rPr>
              <a:t>Users need to know whether automatically generated matches are reliable.</a:t>
            </a:r>
          </a:p>
          <a:p>
            <a:pPr algn="l" marL="383273" indent="-191636" lvl="1">
              <a:lnSpc>
                <a:spcPts val="2130"/>
              </a:lnSpc>
              <a:buFont typeface="Arial"/>
              <a:buChar char="•"/>
            </a:pPr>
            <a:r>
              <a:rPr lang="en-US" b="true" sz="1775">
                <a:solidFill>
                  <a:srgbClr val="FC9223"/>
                </a:solidFill>
                <a:latin typeface="Arimo Bold"/>
                <a:ea typeface="Arimo Bold"/>
                <a:cs typeface="Arimo Bold"/>
                <a:sym typeface="Arimo Bold"/>
              </a:rPr>
              <a:t>Different Data Sources:</a:t>
            </a:r>
            <a:r>
              <a:rPr lang="en-US" b="true" sz="1775">
                <a:solidFill>
                  <a:srgbClr val="000000"/>
                </a:solidFill>
                <a:latin typeface="Arimo Bold"/>
                <a:ea typeface="Arimo Bold"/>
                <a:cs typeface="Arimo Bold"/>
                <a:sym typeface="Arimo Bold"/>
              </a:rPr>
              <a:t> Images from different lunar missions have different formats, resolutions and metadata.</a:t>
            </a:r>
          </a:p>
          <a:p>
            <a:pPr algn="l" marL="383273" indent="-191636" lvl="1">
              <a:lnSpc>
                <a:spcPts val="2130"/>
              </a:lnSpc>
              <a:buFont typeface="Arial"/>
              <a:buChar char="•"/>
            </a:pPr>
            <a:r>
              <a:rPr lang="en-US" b="true" sz="1775">
                <a:solidFill>
                  <a:srgbClr val="FC9223"/>
                </a:solidFill>
                <a:latin typeface="Arimo Bold"/>
                <a:ea typeface="Arimo Bold"/>
                <a:cs typeface="Arimo Bold"/>
                <a:sym typeface="Arimo Bold"/>
              </a:rPr>
              <a:t>In</a:t>
            </a:r>
            <a:r>
              <a:rPr lang="en-US" b="true" sz="1775">
                <a:solidFill>
                  <a:srgbClr val="FC9223"/>
                </a:solidFill>
                <a:latin typeface="Arimo Bold"/>
                <a:ea typeface="Arimo Bold"/>
                <a:cs typeface="Arimo Bold"/>
                <a:sym typeface="Arimo Bold"/>
              </a:rPr>
              <a:t>tegration</a:t>
            </a:r>
            <a:r>
              <a:rPr lang="en-US" b="true" sz="1775">
                <a:solidFill>
                  <a:srgbClr val="FC9223"/>
                </a:solidFill>
                <a:latin typeface="Arimo Bold"/>
                <a:ea typeface="Arimo Bold"/>
                <a:cs typeface="Arimo Bold"/>
                <a:sym typeface="Arimo Bold"/>
              </a:rPr>
              <a:t>: </a:t>
            </a:r>
            <a:r>
              <a:rPr lang="en-US" b="true" sz="1775">
                <a:solidFill>
                  <a:srgbClr val="000000"/>
                </a:solidFill>
                <a:latin typeface="Arimo Bold"/>
                <a:ea typeface="Arimo Bold"/>
                <a:cs typeface="Arimo Bold"/>
                <a:sym typeface="Arimo Bold"/>
              </a:rPr>
              <a:t>Researchers should not have to completely change their existing photogrammetry workflow.</a:t>
            </a:r>
          </a:p>
          <a:p>
            <a:pPr algn="l">
              <a:lnSpc>
                <a:spcPts val="2130"/>
              </a:lnSpc>
            </a:pPr>
          </a:p>
        </p:txBody>
      </p:sp>
      <p:sp>
        <p:nvSpPr>
          <p:cNvPr name="TextBox 49" id="49"/>
          <p:cNvSpPr txBox="true"/>
          <p:nvPr/>
        </p:nvSpPr>
        <p:spPr>
          <a:xfrm rot="0">
            <a:off x="686057" y="6353813"/>
            <a:ext cx="8088482" cy="2295619"/>
          </a:xfrm>
          <a:prstGeom prst="rect">
            <a:avLst/>
          </a:prstGeom>
        </p:spPr>
        <p:txBody>
          <a:bodyPr anchor="t" rtlCol="false" tIns="0" lIns="0" bIns="0" rIns="0">
            <a:spAutoFit/>
          </a:bodyPr>
          <a:lstStyle/>
          <a:p>
            <a:pPr algn="l" marL="331039" indent="-165520" lvl="1">
              <a:lnSpc>
                <a:spcPts val="2304"/>
              </a:lnSpc>
              <a:buFont typeface="Arial"/>
              <a:buChar char="•"/>
            </a:pPr>
            <a:r>
              <a:rPr lang="en-US" b="true" sz="1829">
                <a:solidFill>
                  <a:srgbClr val="D98E2B"/>
                </a:solidFill>
                <a:latin typeface="Arial Bold"/>
                <a:ea typeface="Arial Bold"/>
                <a:cs typeface="Arial Bold"/>
                <a:sym typeface="Arial Bold"/>
              </a:rPr>
              <a:t>D</a:t>
            </a:r>
            <a:r>
              <a:rPr lang="en-US" b="true" sz="1829">
                <a:solidFill>
                  <a:srgbClr val="D98E2B"/>
                </a:solidFill>
                <a:latin typeface="Arial Bold"/>
                <a:ea typeface="Arial Bold"/>
                <a:cs typeface="Arial Bold"/>
                <a:sym typeface="Arial Bold"/>
              </a:rPr>
              <a:t>ifferent Sun Angles</a:t>
            </a:r>
            <a:r>
              <a:rPr lang="en-US" b="true" sz="1829">
                <a:solidFill>
                  <a:srgbClr val="0B2545"/>
                </a:solidFill>
                <a:latin typeface="Arial Bold"/>
                <a:ea typeface="Arial Bold"/>
                <a:cs typeface="Arial Bold"/>
                <a:sym typeface="Arial Bold"/>
              </a:rPr>
              <a:t>: Changes in Sun direction alter shadows and surface appearance, making feature matching difficult.</a:t>
            </a:r>
          </a:p>
          <a:p>
            <a:pPr algn="l" marL="331039" indent="-165520" lvl="1">
              <a:lnSpc>
                <a:spcPts val="2304"/>
              </a:lnSpc>
              <a:buFont typeface="Arial"/>
              <a:buChar char="•"/>
            </a:pPr>
            <a:r>
              <a:rPr lang="en-US" b="true" sz="1829">
                <a:solidFill>
                  <a:srgbClr val="D98E2B"/>
                </a:solidFill>
                <a:latin typeface="Arial Bold"/>
                <a:ea typeface="Arial Bold"/>
                <a:cs typeface="Arial Bold"/>
                <a:sym typeface="Arial Bold"/>
              </a:rPr>
              <a:t>Large Scale Difference</a:t>
            </a:r>
            <a:r>
              <a:rPr lang="en-US" b="true" sz="1829">
                <a:solidFill>
                  <a:srgbClr val="0B2545"/>
                </a:solidFill>
                <a:latin typeface="Arial Bold"/>
                <a:ea typeface="Arial Bold"/>
                <a:cs typeface="Arial Bold"/>
                <a:sym typeface="Arial Bold"/>
              </a:rPr>
              <a:t>: Chandrayaan-2 and LRO images can have significantly different resolutions.</a:t>
            </a:r>
          </a:p>
          <a:p>
            <a:pPr algn="l" marL="331039" indent="-165520" lvl="1">
              <a:lnSpc>
                <a:spcPts val="2304"/>
              </a:lnSpc>
              <a:buFont typeface="Arial"/>
              <a:buChar char="•"/>
            </a:pPr>
            <a:r>
              <a:rPr lang="en-US" b="true" sz="1829">
                <a:solidFill>
                  <a:srgbClr val="D98E2B"/>
                </a:solidFill>
                <a:latin typeface="Arial Bold"/>
                <a:ea typeface="Arial Bold"/>
                <a:cs typeface="Arial Bold"/>
                <a:sym typeface="Arial Bold"/>
              </a:rPr>
              <a:t>Large Image Size</a:t>
            </a:r>
            <a:r>
              <a:rPr lang="en-US" b="true" sz="1829">
                <a:solidFill>
                  <a:srgbClr val="0B2545"/>
                </a:solidFill>
                <a:latin typeface="Arial Bold"/>
                <a:ea typeface="Arial Bold"/>
                <a:cs typeface="Arial Bold"/>
                <a:sym typeface="Arial Bold"/>
              </a:rPr>
              <a:t>: Lunar images can be extremely large, requiring tiling for efficient processing.</a:t>
            </a:r>
          </a:p>
          <a:p>
            <a:pPr algn="l" marL="331039" indent="-165520" lvl="1">
              <a:lnSpc>
                <a:spcPts val="2304"/>
              </a:lnSpc>
              <a:buFont typeface="Arial"/>
              <a:buChar char="•"/>
            </a:pPr>
            <a:r>
              <a:rPr lang="en-US" b="true" sz="1829">
                <a:solidFill>
                  <a:srgbClr val="D98E2B"/>
                </a:solidFill>
                <a:latin typeface="Arial Bold"/>
                <a:ea typeface="Arial Bold"/>
                <a:cs typeface="Arial Bold"/>
                <a:sym typeface="Arial Bold"/>
              </a:rPr>
              <a:t>Incorrect Matches</a:t>
            </a:r>
            <a:r>
              <a:rPr lang="en-US" b="true" sz="1829">
                <a:solidFill>
                  <a:srgbClr val="0B2545"/>
                </a:solidFill>
                <a:latin typeface="Arial Bold"/>
                <a:ea typeface="Arial Bold"/>
                <a:cs typeface="Arial Bold"/>
                <a:sym typeface="Arial Bold"/>
              </a:rPr>
              <a:t>: Similar-looking lunar terrain can produce false correspondences.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2144"/>
            <a:ext cx="18288000" cy="754856"/>
            <a:chOff x="0" y="0"/>
            <a:chExt cx="24384000" cy="1006475"/>
          </a:xfrm>
        </p:grpSpPr>
        <p:sp>
          <p:nvSpPr>
            <p:cNvPr name="Freeform 3" id="3"/>
            <p:cNvSpPr/>
            <p:nvPr/>
          </p:nvSpPr>
          <p:spPr>
            <a:xfrm flipH="false" flipV="false" rot="0">
              <a:off x="0" y="0"/>
              <a:ext cx="24384000" cy="1006475"/>
            </a:xfrm>
            <a:custGeom>
              <a:avLst/>
              <a:gdLst/>
              <a:ahLst/>
              <a:cxnLst/>
              <a:rect r="r" b="b" t="t" l="l"/>
              <a:pathLst>
                <a:path h="1006475" w="24384000">
                  <a:moveTo>
                    <a:pt x="0" y="0"/>
                  </a:moveTo>
                  <a:lnTo>
                    <a:pt x="24384000" y="0"/>
                  </a:lnTo>
                  <a:lnTo>
                    <a:pt x="24384000" y="1006475"/>
                  </a:lnTo>
                  <a:lnTo>
                    <a:pt x="0" y="1006475"/>
                  </a:lnTo>
                  <a:close/>
                </a:path>
              </a:pathLst>
            </a:custGeom>
            <a:solidFill>
              <a:srgbClr val="0070C0"/>
            </a:solidFill>
          </p:spPr>
        </p:sp>
      </p:grpSp>
      <p:grpSp>
        <p:nvGrpSpPr>
          <p:cNvPr name="Group 4" id="4"/>
          <p:cNvGrpSpPr/>
          <p:nvPr/>
        </p:nvGrpSpPr>
        <p:grpSpPr>
          <a:xfrm rot="0">
            <a:off x="914400" y="-71438"/>
            <a:ext cx="16459200" cy="1714500"/>
            <a:chOff x="0" y="0"/>
            <a:chExt cx="21945600" cy="2286000"/>
          </a:xfrm>
        </p:grpSpPr>
        <p:sp>
          <p:nvSpPr>
            <p:cNvPr name="Freeform 5" id="5"/>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2">
                <a:alphaModFix amt="0"/>
              </a:blip>
              <a:stretch>
                <a:fillRect l="0" t="-137056" r="0" b="-137056"/>
              </a:stretch>
            </a:blipFill>
          </p:spPr>
        </p:sp>
        <p:sp>
          <p:nvSpPr>
            <p:cNvPr name="TextBox 6" id="6"/>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b="true">
                  <a:solidFill>
                    <a:srgbClr val="000000"/>
                  </a:solidFill>
                  <a:latin typeface="Times New Roman Bold"/>
                  <a:ea typeface="Times New Roman Bold"/>
                  <a:cs typeface="Times New Roman Bold"/>
                  <a:sym typeface="Times New Roman Bold"/>
                </a:rPr>
                <a:t>IMPACT AND BENEFITS</a:t>
              </a:r>
            </a:p>
          </p:txBody>
        </p:sp>
      </p:grpSp>
      <p:grpSp>
        <p:nvGrpSpPr>
          <p:cNvPr name="Group 7" id="7"/>
          <p:cNvGrpSpPr/>
          <p:nvPr/>
        </p:nvGrpSpPr>
        <p:grpSpPr>
          <a:xfrm rot="0">
            <a:off x="13106400" y="9534525"/>
            <a:ext cx="4267200" cy="547688"/>
            <a:chOff x="0" y="0"/>
            <a:chExt cx="5689600" cy="730250"/>
          </a:xfrm>
        </p:grpSpPr>
        <p:sp>
          <p:nvSpPr>
            <p:cNvPr name="Freeform 8" id="8"/>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2">
                <a:alphaModFix amt="0"/>
              </a:blip>
              <a:stretch>
                <a:fillRect l="0" t="-101813" r="0" b="-101813"/>
              </a:stretch>
            </a:blipFill>
          </p:spPr>
        </p:sp>
        <p:sp>
          <p:nvSpPr>
            <p:cNvPr name="TextBox 9" id="9"/>
            <p:cNvSpPr txBox="true"/>
            <p:nvPr/>
          </p:nvSpPr>
          <p:spPr>
            <a:xfrm>
              <a:off x="0" y="-19050"/>
              <a:ext cx="5689600" cy="749300"/>
            </a:xfrm>
            <a:prstGeom prst="rect">
              <a:avLst/>
            </a:prstGeom>
          </p:spPr>
          <p:txBody>
            <a:bodyPr anchor="ctr" rtlCol="false" tIns="0" lIns="0" bIns="0" rIns="0"/>
            <a:lstStyle/>
            <a:p>
              <a:pPr algn="r">
                <a:lnSpc>
                  <a:spcPts val="2160"/>
                </a:lnSpc>
              </a:pPr>
              <a:r>
                <a:rPr lang="en-US" b="true" sz="1800">
                  <a:solidFill>
                    <a:srgbClr val="FFFFFF"/>
                  </a:solidFill>
                  <a:latin typeface="Arimo Bold"/>
                  <a:ea typeface="Arimo Bold"/>
                  <a:cs typeface="Arimo Bold"/>
                  <a:sym typeface="Arimo Bold"/>
                </a:rPr>
                <a:t>5</a:t>
              </a:r>
            </a:p>
          </p:txBody>
        </p:sp>
      </p:grpSp>
      <p:grpSp>
        <p:nvGrpSpPr>
          <p:cNvPr name="Group 10" id="10"/>
          <p:cNvGrpSpPr/>
          <p:nvPr/>
        </p:nvGrpSpPr>
        <p:grpSpPr>
          <a:xfrm rot="0">
            <a:off x="6972300" y="9534525"/>
            <a:ext cx="4806001" cy="547688"/>
            <a:chOff x="0" y="0"/>
            <a:chExt cx="6408001" cy="730250"/>
          </a:xfrm>
        </p:grpSpPr>
        <p:sp>
          <p:nvSpPr>
            <p:cNvPr name="Freeform 11" id="11"/>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2">
                <a:alphaModFix amt="0"/>
              </a:blip>
              <a:stretch>
                <a:fillRect l="0" t="-120982" r="0" b="-120982"/>
              </a:stretch>
            </a:blipFill>
          </p:spPr>
        </p:sp>
        <p:sp>
          <p:nvSpPr>
            <p:cNvPr name="TextBox 12" id="12"/>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name="Group 13" id="13"/>
          <p:cNvGrpSpPr/>
          <p:nvPr/>
        </p:nvGrpSpPr>
        <p:grpSpPr>
          <a:xfrm rot="0">
            <a:off x="475612" y="359321"/>
            <a:ext cx="1915887" cy="1249101"/>
            <a:chOff x="0" y="0"/>
            <a:chExt cx="2554516" cy="1665468"/>
          </a:xfrm>
        </p:grpSpPr>
        <p:sp>
          <p:nvSpPr>
            <p:cNvPr name="Freeform 14" id="14" descr="Your startup LOGO"/>
            <p:cNvSpPr/>
            <p:nvPr/>
          </p:nvSpPr>
          <p:spPr>
            <a:xfrm flipH="false" flipV="false" rot="0">
              <a:off x="0" y="0"/>
              <a:ext cx="2554478" cy="1665481"/>
            </a:xfrm>
            <a:custGeom>
              <a:avLst/>
              <a:gdLst/>
              <a:ahLst/>
              <a:cxnLst/>
              <a:rect r="r" b="b" t="t" l="l"/>
              <a:pathLst>
                <a:path h="1665481" w="2554478">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name="TextBox 15" id="15"/>
            <p:cNvSpPr txBox="true"/>
            <p:nvPr/>
          </p:nvSpPr>
          <p:spPr>
            <a:xfrm>
              <a:off x="0" y="-57150"/>
              <a:ext cx="2554516" cy="1722618"/>
            </a:xfrm>
            <a:prstGeom prst="rect">
              <a:avLst/>
            </a:prstGeom>
          </p:spPr>
          <p:txBody>
            <a:bodyPr anchor="ctr" rtlCol="false" tIns="50800" lIns="50800" bIns="50800" rIns="50800"/>
            <a:lstStyle/>
            <a:p>
              <a:pPr algn="ctr">
                <a:lnSpc>
                  <a:spcPts val="3240"/>
                </a:lnSpc>
              </a:pPr>
              <a:r>
                <a:rPr lang="en-US" sz="2700">
                  <a:solidFill>
                    <a:srgbClr val="000000"/>
                  </a:solidFill>
                  <a:latin typeface="Calibri (MS)"/>
                  <a:ea typeface="Calibri (MS)"/>
                  <a:cs typeface="Calibri (MS)"/>
                  <a:sym typeface="Calibri (MS)"/>
                </a:rPr>
                <a:t>Shevolution</a:t>
              </a:r>
            </a:p>
          </p:txBody>
        </p:sp>
      </p:grpSp>
      <p:grpSp>
        <p:nvGrpSpPr>
          <p:cNvPr name="Group 16" id="16"/>
          <p:cNvGrpSpPr/>
          <p:nvPr/>
        </p:nvGrpSpPr>
        <p:grpSpPr>
          <a:xfrm rot="0">
            <a:off x="14670129" y="2248"/>
            <a:ext cx="3374774" cy="1593504"/>
            <a:chOff x="0" y="0"/>
            <a:chExt cx="4499699" cy="2124672"/>
          </a:xfrm>
        </p:grpSpPr>
        <p:sp>
          <p:nvSpPr>
            <p:cNvPr name="Freeform 17" id="17"/>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3"/>
              <a:stretch>
                <a:fillRect l="0" t="0" r="0" b="1"/>
              </a:stretch>
            </a:blipFill>
          </p:spPr>
        </p:sp>
      </p:grpSp>
      <p:grpSp>
        <p:nvGrpSpPr>
          <p:cNvPr name="Group 18" id="18"/>
          <p:cNvGrpSpPr/>
          <p:nvPr/>
        </p:nvGrpSpPr>
        <p:grpSpPr>
          <a:xfrm rot="0">
            <a:off x="362176" y="2010677"/>
            <a:ext cx="855811" cy="855811"/>
            <a:chOff x="0" y="0"/>
            <a:chExt cx="1141082" cy="1141082"/>
          </a:xfrm>
        </p:grpSpPr>
        <p:grpSp>
          <p:nvGrpSpPr>
            <p:cNvPr name="Group 19" id="19"/>
            <p:cNvGrpSpPr/>
            <p:nvPr/>
          </p:nvGrpSpPr>
          <p:grpSpPr>
            <a:xfrm rot="0">
              <a:off x="0" y="0"/>
              <a:ext cx="1141082" cy="1141082"/>
              <a:chOff x="0" y="0"/>
              <a:chExt cx="914400" cy="914400"/>
            </a:xfrm>
          </p:grpSpPr>
          <p:sp>
            <p:nvSpPr>
              <p:cNvPr name="Freeform 20" id="2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C4E80"/>
              </a:solidFill>
            </p:spPr>
          </p:sp>
        </p:grpSp>
        <p:grpSp>
          <p:nvGrpSpPr>
            <p:cNvPr name="Group 21" id="21"/>
            <p:cNvGrpSpPr/>
            <p:nvPr/>
          </p:nvGrpSpPr>
          <p:grpSpPr>
            <a:xfrm rot="0">
              <a:off x="323088" y="314509"/>
              <a:ext cx="512064" cy="512064"/>
              <a:chOff x="0" y="0"/>
              <a:chExt cx="512064" cy="512064"/>
            </a:xfrm>
          </p:grpSpPr>
          <p:sp>
            <p:nvSpPr>
              <p:cNvPr name="Freeform 22" id="22" descr="/tmp/outputs/deck_assets/rocket_white.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4"/>
                <a:stretch>
                  <a:fillRect l="0" t="0" r="0" b="0"/>
                </a:stretch>
              </a:blipFill>
            </p:spPr>
          </p:sp>
        </p:grpSp>
      </p:grpSp>
      <p:grpSp>
        <p:nvGrpSpPr>
          <p:cNvPr name="Group 23" id="23"/>
          <p:cNvGrpSpPr/>
          <p:nvPr/>
        </p:nvGrpSpPr>
        <p:grpSpPr>
          <a:xfrm rot="0">
            <a:off x="380040" y="4019634"/>
            <a:ext cx="855811" cy="855811"/>
            <a:chOff x="0" y="0"/>
            <a:chExt cx="1141082" cy="1141082"/>
          </a:xfrm>
        </p:grpSpPr>
        <p:grpSp>
          <p:nvGrpSpPr>
            <p:cNvPr name="Group 24" id="24"/>
            <p:cNvGrpSpPr/>
            <p:nvPr/>
          </p:nvGrpSpPr>
          <p:grpSpPr>
            <a:xfrm rot="0">
              <a:off x="0" y="0"/>
              <a:ext cx="1141082" cy="1141082"/>
              <a:chOff x="0" y="0"/>
              <a:chExt cx="914400" cy="914400"/>
            </a:xfrm>
          </p:grpSpPr>
          <p:sp>
            <p:nvSpPr>
              <p:cNvPr name="Freeform 25" id="2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F7A54"/>
              </a:solidFill>
            </p:spPr>
          </p:sp>
        </p:grpSp>
        <p:grpSp>
          <p:nvGrpSpPr>
            <p:cNvPr name="Group 26" id="26"/>
            <p:cNvGrpSpPr/>
            <p:nvPr/>
          </p:nvGrpSpPr>
          <p:grpSpPr>
            <a:xfrm rot="0">
              <a:off x="314509" y="259493"/>
              <a:ext cx="512064" cy="512064"/>
              <a:chOff x="0" y="0"/>
              <a:chExt cx="512064" cy="512064"/>
            </a:xfrm>
          </p:grpSpPr>
          <p:sp>
            <p:nvSpPr>
              <p:cNvPr name="Freeform 27" id="27" descr="/tmp/outputs/deck_assets/flask_white.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5"/>
                <a:stretch>
                  <a:fillRect l="0" t="0" r="0" b="0"/>
                </a:stretch>
              </a:blipFill>
            </p:spPr>
          </p:sp>
        </p:grpSp>
      </p:grpSp>
      <p:grpSp>
        <p:nvGrpSpPr>
          <p:cNvPr name="Group 28" id="28"/>
          <p:cNvGrpSpPr/>
          <p:nvPr/>
        </p:nvGrpSpPr>
        <p:grpSpPr>
          <a:xfrm rot="0">
            <a:off x="362176" y="5606869"/>
            <a:ext cx="855811" cy="855811"/>
            <a:chOff x="0" y="0"/>
            <a:chExt cx="1141082" cy="1141082"/>
          </a:xfrm>
        </p:grpSpPr>
        <p:grpSp>
          <p:nvGrpSpPr>
            <p:cNvPr name="Group 29" id="29"/>
            <p:cNvGrpSpPr/>
            <p:nvPr/>
          </p:nvGrpSpPr>
          <p:grpSpPr>
            <a:xfrm rot="0">
              <a:off x="0" y="0"/>
              <a:ext cx="1141082" cy="1141082"/>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B8721F"/>
              </a:solidFill>
            </p:spPr>
          </p:sp>
        </p:grpSp>
        <p:grpSp>
          <p:nvGrpSpPr>
            <p:cNvPr name="Group 31" id="31"/>
            <p:cNvGrpSpPr/>
            <p:nvPr/>
          </p:nvGrpSpPr>
          <p:grpSpPr>
            <a:xfrm rot="0">
              <a:off x="314509" y="297878"/>
              <a:ext cx="512064" cy="512064"/>
              <a:chOff x="0" y="0"/>
              <a:chExt cx="512064" cy="512064"/>
            </a:xfrm>
          </p:grpSpPr>
          <p:sp>
            <p:nvSpPr>
              <p:cNvPr name="Freeform 32" id="32" descr="/tmp/outputs/deck_assets/shield_white.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6"/>
                <a:stretch>
                  <a:fillRect l="0" t="0" r="0" b="0"/>
                </a:stretch>
              </a:blipFill>
            </p:spPr>
          </p:sp>
        </p:grpSp>
      </p:grpSp>
      <p:sp>
        <p:nvSpPr>
          <p:cNvPr name="Freeform 33" id="33"/>
          <p:cNvSpPr/>
          <p:nvPr/>
        </p:nvSpPr>
        <p:spPr>
          <a:xfrm flipH="false" flipV="false" rot="0">
            <a:off x="9515355" y="1343505"/>
            <a:ext cx="8772645" cy="3799995"/>
          </a:xfrm>
          <a:custGeom>
            <a:avLst/>
            <a:gdLst/>
            <a:ahLst/>
            <a:cxnLst/>
            <a:rect r="r" b="b" t="t" l="l"/>
            <a:pathLst>
              <a:path h="3799995" w="8772645">
                <a:moveTo>
                  <a:pt x="0" y="0"/>
                </a:moveTo>
                <a:lnTo>
                  <a:pt x="8772645" y="0"/>
                </a:lnTo>
                <a:lnTo>
                  <a:pt x="8772645" y="3799995"/>
                </a:lnTo>
                <a:lnTo>
                  <a:pt x="0" y="3799995"/>
                </a:lnTo>
                <a:lnTo>
                  <a:pt x="0" y="0"/>
                </a:lnTo>
                <a:close/>
              </a:path>
            </a:pathLst>
          </a:custGeom>
          <a:blipFill>
            <a:blip r:embed="rId7"/>
            <a:stretch>
              <a:fillRect l="0" t="0" r="0" b="0"/>
            </a:stretch>
          </a:blipFill>
        </p:spPr>
      </p:sp>
      <p:sp>
        <p:nvSpPr>
          <p:cNvPr name="Freeform 34" id="34"/>
          <p:cNvSpPr/>
          <p:nvPr/>
        </p:nvSpPr>
        <p:spPr>
          <a:xfrm flipH="false" flipV="false" rot="0">
            <a:off x="9904814" y="5143500"/>
            <a:ext cx="7993728" cy="4315047"/>
          </a:xfrm>
          <a:custGeom>
            <a:avLst/>
            <a:gdLst/>
            <a:ahLst/>
            <a:cxnLst/>
            <a:rect r="r" b="b" t="t" l="l"/>
            <a:pathLst>
              <a:path h="4315047" w="7993728">
                <a:moveTo>
                  <a:pt x="0" y="0"/>
                </a:moveTo>
                <a:lnTo>
                  <a:pt x="7993728" y="0"/>
                </a:lnTo>
                <a:lnTo>
                  <a:pt x="7993728" y="4315047"/>
                </a:lnTo>
                <a:lnTo>
                  <a:pt x="0" y="4315047"/>
                </a:lnTo>
                <a:lnTo>
                  <a:pt x="0" y="0"/>
                </a:lnTo>
                <a:close/>
              </a:path>
            </a:pathLst>
          </a:custGeom>
          <a:blipFill>
            <a:blip r:embed="rId8"/>
            <a:stretch>
              <a:fillRect l="0" t="-488" r="-145" b="-488"/>
            </a:stretch>
          </a:blipFill>
        </p:spPr>
      </p:sp>
      <p:grpSp>
        <p:nvGrpSpPr>
          <p:cNvPr name="Group 35" id="35"/>
          <p:cNvGrpSpPr/>
          <p:nvPr/>
        </p:nvGrpSpPr>
        <p:grpSpPr>
          <a:xfrm rot="0">
            <a:off x="362176" y="7444378"/>
            <a:ext cx="891540" cy="899500"/>
            <a:chOff x="0" y="0"/>
            <a:chExt cx="1188720" cy="1199334"/>
          </a:xfrm>
        </p:grpSpPr>
        <p:sp>
          <p:nvSpPr>
            <p:cNvPr name="Freeform 36" id="36"/>
            <p:cNvSpPr/>
            <p:nvPr/>
          </p:nvSpPr>
          <p:spPr>
            <a:xfrm flipH="false" flipV="false" rot="0">
              <a:off x="0" y="0"/>
              <a:ext cx="1188720" cy="1199334"/>
            </a:xfrm>
            <a:custGeom>
              <a:avLst/>
              <a:gdLst/>
              <a:ahLst/>
              <a:cxnLst/>
              <a:rect r="r" b="b" t="t" l="l"/>
              <a:pathLst>
                <a:path h="1199334" w="1188720">
                  <a:moveTo>
                    <a:pt x="0" y="0"/>
                  </a:moveTo>
                  <a:lnTo>
                    <a:pt x="1188720" y="0"/>
                  </a:lnTo>
                  <a:lnTo>
                    <a:pt x="1188720" y="1199334"/>
                  </a:lnTo>
                  <a:lnTo>
                    <a:pt x="0" y="1199334"/>
                  </a:lnTo>
                  <a:lnTo>
                    <a:pt x="0" y="0"/>
                  </a:lnTo>
                  <a:close/>
                </a:path>
              </a:pathLst>
            </a:custGeom>
            <a:blipFill>
              <a:blip r:embed="rId9"/>
              <a:stretch>
                <a:fillRect l="0" t="0" r="0" b="0"/>
              </a:stretch>
            </a:blipFill>
          </p:spPr>
        </p:sp>
        <p:sp>
          <p:nvSpPr>
            <p:cNvPr name="Freeform 37" id="37"/>
            <p:cNvSpPr/>
            <p:nvPr/>
          </p:nvSpPr>
          <p:spPr>
            <a:xfrm flipH="false" flipV="false" rot="0">
              <a:off x="314509" y="257574"/>
              <a:ext cx="766288" cy="684185"/>
            </a:xfrm>
            <a:custGeom>
              <a:avLst/>
              <a:gdLst/>
              <a:ahLst/>
              <a:cxnLst/>
              <a:rect r="r" b="b" t="t" l="l"/>
              <a:pathLst>
                <a:path h="684185" w="766288">
                  <a:moveTo>
                    <a:pt x="0" y="0"/>
                  </a:moveTo>
                  <a:lnTo>
                    <a:pt x="766287" y="0"/>
                  </a:lnTo>
                  <a:lnTo>
                    <a:pt x="766287" y="684185"/>
                  </a:lnTo>
                  <a:lnTo>
                    <a:pt x="0" y="684185"/>
                  </a:lnTo>
                  <a:lnTo>
                    <a:pt x="0" y="0"/>
                  </a:lnTo>
                  <a:close/>
                </a:path>
              </a:pathLst>
            </a:custGeom>
            <a:blipFill>
              <a:blip r:embed="rId10"/>
              <a:stretch>
                <a:fillRect l="0" t="0" r="0" b="0"/>
              </a:stretch>
            </a:blipFill>
          </p:spPr>
        </p:sp>
      </p:grpSp>
      <p:sp>
        <p:nvSpPr>
          <p:cNvPr name="TextBox 38" id="38"/>
          <p:cNvSpPr txBox="true"/>
          <p:nvPr/>
        </p:nvSpPr>
        <p:spPr>
          <a:xfrm rot="0">
            <a:off x="1433555" y="2052805"/>
            <a:ext cx="8278451" cy="1528679"/>
          </a:xfrm>
          <a:prstGeom prst="rect">
            <a:avLst/>
          </a:prstGeom>
        </p:spPr>
        <p:txBody>
          <a:bodyPr anchor="t" rtlCol="false" tIns="0" lIns="0" bIns="0" rIns="0">
            <a:spAutoFit/>
          </a:bodyPr>
          <a:lstStyle/>
          <a:p>
            <a:pPr algn="l">
              <a:lnSpc>
                <a:spcPts val="2753"/>
              </a:lnSpc>
            </a:pPr>
            <a:r>
              <a:rPr lang="en-US" sz="2124" b="true">
                <a:solidFill>
                  <a:srgbClr val="1C4E80"/>
                </a:solidFill>
                <a:latin typeface="Arial Bold"/>
                <a:ea typeface="Arial Bold"/>
                <a:cs typeface="Arial Bold"/>
                <a:sym typeface="Arial Bold"/>
              </a:rPr>
              <a:t>Mission impact</a:t>
            </a:r>
          </a:p>
          <a:p>
            <a:pPr algn="l">
              <a:lnSpc>
                <a:spcPts val="2326"/>
              </a:lnSpc>
            </a:pPr>
            <a:r>
              <a:rPr lang="en-US" sz="1794">
                <a:solidFill>
                  <a:srgbClr val="1A1A1A"/>
                </a:solidFill>
                <a:latin typeface="Arial"/>
                <a:ea typeface="Arial"/>
                <a:cs typeface="Arial"/>
                <a:sym typeface="Arial"/>
              </a:rPr>
              <a:t>Mak</a:t>
            </a:r>
            <a:r>
              <a:rPr lang="en-US" sz="1794">
                <a:solidFill>
                  <a:srgbClr val="1A1A1A"/>
                </a:solidFill>
                <a:latin typeface="Arial"/>
                <a:ea typeface="Arial"/>
                <a:cs typeface="Arial"/>
                <a:sym typeface="Arial"/>
              </a:rPr>
              <a:t>es it easier to find the same lunar location in images taken under different sunlight conditions.</a:t>
            </a:r>
          </a:p>
          <a:p>
            <a:pPr algn="l">
              <a:lnSpc>
                <a:spcPts val="2326"/>
              </a:lnSpc>
            </a:pPr>
            <a:r>
              <a:rPr lang="en-US" sz="1794">
                <a:solidFill>
                  <a:srgbClr val="1A1A1A"/>
                </a:solidFill>
                <a:latin typeface="Arial"/>
                <a:ea typeface="Arial"/>
                <a:cs typeface="Arial"/>
                <a:sym typeface="Arial"/>
              </a:rPr>
              <a:t>→ Reduces manual effort when selecting matching points for lunar image registration.</a:t>
            </a:r>
          </a:p>
        </p:txBody>
      </p:sp>
      <p:sp>
        <p:nvSpPr>
          <p:cNvPr name="TextBox 39" id="39"/>
          <p:cNvSpPr txBox="true"/>
          <p:nvPr/>
        </p:nvSpPr>
        <p:spPr>
          <a:xfrm rot="0">
            <a:off x="1433555" y="3984224"/>
            <a:ext cx="7941745" cy="1445026"/>
          </a:xfrm>
          <a:prstGeom prst="rect">
            <a:avLst/>
          </a:prstGeom>
        </p:spPr>
        <p:txBody>
          <a:bodyPr anchor="t" rtlCol="false" tIns="0" lIns="0" bIns="0" rIns="0">
            <a:spAutoFit/>
          </a:bodyPr>
          <a:lstStyle/>
          <a:p>
            <a:pPr algn="l">
              <a:lnSpc>
                <a:spcPts val="2319"/>
              </a:lnSpc>
            </a:pPr>
            <a:r>
              <a:rPr lang="en-US" sz="1790" b="true">
                <a:solidFill>
                  <a:srgbClr val="1F7A54"/>
                </a:solidFill>
                <a:latin typeface="Arial Bold"/>
                <a:ea typeface="Arial Bold"/>
                <a:cs typeface="Arial Bold"/>
                <a:sym typeface="Arial Bold"/>
              </a:rPr>
              <a:t>Scientific value</a:t>
            </a:r>
          </a:p>
          <a:p>
            <a:pPr algn="l">
              <a:lnSpc>
                <a:spcPts val="2319"/>
              </a:lnSpc>
            </a:pPr>
            <a:r>
              <a:rPr lang="en-US" sz="1790">
                <a:solidFill>
                  <a:srgbClr val="1A1A1A"/>
                </a:solidFill>
                <a:latin typeface="Arial"/>
                <a:ea typeface="Arial"/>
                <a:cs typeface="Arial"/>
                <a:sym typeface="Arial"/>
              </a:rPr>
              <a:t>Helps combine images from different instruments, such as Chandrayaan-2 and LRO.</a:t>
            </a:r>
          </a:p>
          <a:p>
            <a:pPr algn="l">
              <a:lnSpc>
                <a:spcPts val="2319"/>
              </a:lnSpc>
            </a:pPr>
            <a:r>
              <a:rPr lang="en-US" sz="1790">
                <a:solidFill>
                  <a:srgbClr val="1A1A1A"/>
                </a:solidFill>
                <a:latin typeface="Arial"/>
                <a:ea typeface="Arial"/>
                <a:cs typeface="Arial"/>
                <a:sym typeface="Arial"/>
              </a:rPr>
              <a:t>→ More images can be compared and used together for lunar research.</a:t>
            </a:r>
          </a:p>
          <a:p>
            <a:pPr algn="l">
              <a:lnSpc>
                <a:spcPts val="2319"/>
              </a:lnSpc>
            </a:pPr>
          </a:p>
        </p:txBody>
      </p:sp>
      <p:sp>
        <p:nvSpPr>
          <p:cNvPr name="TextBox 40" id="40"/>
          <p:cNvSpPr txBox="true"/>
          <p:nvPr/>
        </p:nvSpPr>
        <p:spPr>
          <a:xfrm rot="0">
            <a:off x="1433555" y="5710175"/>
            <a:ext cx="8471258" cy="1159276"/>
          </a:xfrm>
          <a:prstGeom prst="rect">
            <a:avLst/>
          </a:prstGeom>
        </p:spPr>
        <p:txBody>
          <a:bodyPr anchor="t" rtlCol="false" tIns="0" lIns="0" bIns="0" rIns="0">
            <a:spAutoFit/>
          </a:bodyPr>
          <a:lstStyle/>
          <a:p>
            <a:pPr algn="l">
              <a:lnSpc>
                <a:spcPts val="2319"/>
              </a:lnSpc>
            </a:pPr>
            <a:r>
              <a:rPr lang="en-US" sz="1790" b="true">
                <a:solidFill>
                  <a:srgbClr val="B8721F"/>
                </a:solidFill>
                <a:latin typeface="Arial Bold"/>
                <a:ea typeface="Arial Bold"/>
                <a:cs typeface="Arial Bold"/>
                <a:sym typeface="Arial Bold"/>
              </a:rPr>
              <a:t>Trust and governance</a:t>
            </a:r>
          </a:p>
          <a:p>
            <a:pPr algn="l">
              <a:lnSpc>
                <a:spcPts val="2319"/>
              </a:lnSpc>
            </a:pPr>
            <a:r>
              <a:rPr lang="en-US" sz="1790">
                <a:solidFill>
                  <a:srgbClr val="1A1A1A"/>
                </a:solidFill>
                <a:latin typeface="Arial"/>
                <a:ea typeface="Arial"/>
                <a:cs typeface="Arial"/>
                <a:sym typeface="Arial"/>
              </a:rPr>
              <a:t>tChecks the detected matches before showing the final result.</a:t>
            </a:r>
          </a:p>
          <a:p>
            <a:pPr algn="l">
              <a:lnSpc>
                <a:spcPts val="2319"/>
              </a:lnSpc>
            </a:pPr>
            <a:r>
              <a:rPr lang="en-US" sz="1790">
                <a:solidFill>
                  <a:srgbClr val="1A1A1A"/>
                </a:solidFill>
                <a:latin typeface="Arial"/>
                <a:ea typeface="Arial"/>
                <a:cs typeface="Arial"/>
                <a:sym typeface="Arial"/>
              </a:rPr>
              <a:t>→ Helps remove incorrect matches and gives researchers more confidence in the output.</a:t>
            </a:r>
          </a:p>
        </p:txBody>
      </p:sp>
      <p:sp>
        <p:nvSpPr>
          <p:cNvPr name="TextBox 41" id="41"/>
          <p:cNvSpPr txBox="true"/>
          <p:nvPr/>
        </p:nvSpPr>
        <p:spPr>
          <a:xfrm rot="0">
            <a:off x="1433555" y="7498825"/>
            <a:ext cx="8471258" cy="752505"/>
          </a:xfrm>
          <a:prstGeom prst="rect">
            <a:avLst/>
          </a:prstGeom>
        </p:spPr>
        <p:txBody>
          <a:bodyPr anchor="t" rtlCol="false" tIns="0" lIns="0" bIns="0" rIns="0">
            <a:spAutoFit/>
          </a:bodyPr>
          <a:lstStyle/>
          <a:p>
            <a:pPr algn="l">
              <a:lnSpc>
                <a:spcPts val="2319"/>
              </a:lnSpc>
            </a:pPr>
            <a:r>
              <a:rPr lang="en-US" sz="1790" b="true">
                <a:solidFill>
                  <a:srgbClr val="1C4E80"/>
                </a:solidFill>
                <a:latin typeface="Arial Bold"/>
                <a:ea typeface="Arial Bold"/>
                <a:cs typeface="Arial Bold"/>
                <a:sym typeface="Arial Bold"/>
              </a:rPr>
              <a:t>Research ready outputs</a:t>
            </a:r>
          </a:p>
          <a:p>
            <a:pPr algn="l">
              <a:lnSpc>
                <a:spcPts val="2319"/>
              </a:lnSpc>
            </a:pPr>
            <a:r>
              <a:rPr lang="en-US" sz="1790">
                <a:solidFill>
                  <a:srgbClr val="1A1A1A"/>
                </a:solidFill>
                <a:latin typeface="Arial"/>
                <a:ea typeface="Arial"/>
                <a:cs typeface="Arial"/>
                <a:sym typeface="Arial"/>
              </a:rPr>
              <a:t>Produces registered images, match points, metrics, GeoJSON/CSV, and PVL control-network files.</a:t>
            </a:r>
          </a:p>
          <a:p>
            <a:pPr algn="l">
              <a:lnSpc>
                <a:spcPts val="231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2144"/>
            <a:ext cx="18288000" cy="754856"/>
            <a:chOff x="0" y="0"/>
            <a:chExt cx="24384000" cy="1006475"/>
          </a:xfrm>
        </p:grpSpPr>
        <p:sp>
          <p:nvSpPr>
            <p:cNvPr name="Freeform 3" id="3"/>
            <p:cNvSpPr/>
            <p:nvPr/>
          </p:nvSpPr>
          <p:spPr>
            <a:xfrm flipH="false" flipV="false" rot="0">
              <a:off x="0" y="0"/>
              <a:ext cx="24384000" cy="1006475"/>
            </a:xfrm>
            <a:custGeom>
              <a:avLst/>
              <a:gdLst/>
              <a:ahLst/>
              <a:cxnLst/>
              <a:rect r="r" b="b" t="t" l="l"/>
              <a:pathLst>
                <a:path h="1006475" w="24384000">
                  <a:moveTo>
                    <a:pt x="0" y="0"/>
                  </a:moveTo>
                  <a:lnTo>
                    <a:pt x="24384000" y="0"/>
                  </a:lnTo>
                  <a:lnTo>
                    <a:pt x="24384000" y="1006475"/>
                  </a:lnTo>
                  <a:lnTo>
                    <a:pt x="0" y="1006475"/>
                  </a:lnTo>
                  <a:close/>
                </a:path>
              </a:pathLst>
            </a:custGeom>
            <a:solidFill>
              <a:srgbClr val="0070C0"/>
            </a:solidFill>
          </p:spPr>
        </p:sp>
      </p:grpSp>
      <p:grpSp>
        <p:nvGrpSpPr>
          <p:cNvPr name="Group 4" id="4"/>
          <p:cNvGrpSpPr/>
          <p:nvPr/>
        </p:nvGrpSpPr>
        <p:grpSpPr>
          <a:xfrm rot="0">
            <a:off x="914400" y="-71438"/>
            <a:ext cx="16459200" cy="1714500"/>
            <a:chOff x="0" y="0"/>
            <a:chExt cx="21945600" cy="2286000"/>
          </a:xfrm>
        </p:grpSpPr>
        <p:sp>
          <p:nvSpPr>
            <p:cNvPr name="Freeform 5" id="5"/>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2">
                <a:alphaModFix amt="0"/>
              </a:blip>
              <a:stretch>
                <a:fillRect l="0" t="-137056" r="0" b="-137056"/>
              </a:stretch>
            </a:blipFill>
          </p:spPr>
        </p:sp>
        <p:sp>
          <p:nvSpPr>
            <p:cNvPr name="TextBox 6" id="6"/>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b="true">
                  <a:solidFill>
                    <a:srgbClr val="000000"/>
                  </a:solidFill>
                  <a:latin typeface="Times New Roman Bold"/>
                  <a:ea typeface="Times New Roman Bold"/>
                  <a:cs typeface="Times New Roman Bold"/>
                  <a:sym typeface="Times New Roman Bold"/>
                </a:rPr>
                <a:t>RESEARCH  AND REFERENCES</a:t>
              </a:r>
            </a:p>
          </p:txBody>
        </p:sp>
      </p:grpSp>
      <p:grpSp>
        <p:nvGrpSpPr>
          <p:cNvPr name="Group 7" id="7"/>
          <p:cNvGrpSpPr/>
          <p:nvPr/>
        </p:nvGrpSpPr>
        <p:grpSpPr>
          <a:xfrm rot="0">
            <a:off x="13106400" y="9534525"/>
            <a:ext cx="4267200" cy="547688"/>
            <a:chOff x="0" y="0"/>
            <a:chExt cx="5689600" cy="730250"/>
          </a:xfrm>
        </p:grpSpPr>
        <p:sp>
          <p:nvSpPr>
            <p:cNvPr name="Freeform 8" id="8"/>
            <p:cNvSpPr/>
            <p:nvPr/>
          </p:nvSpPr>
          <p:spPr>
            <a:xfrm flipH="false" flipV="false" rot="0">
              <a:off x="0" y="0"/>
              <a:ext cx="5689600" cy="730250"/>
            </a:xfrm>
            <a:custGeom>
              <a:avLst/>
              <a:gdLst/>
              <a:ahLst/>
              <a:cxnLst/>
              <a:rect r="r" b="b" t="t" l="l"/>
              <a:pathLst>
                <a:path h="730250" w="5689600">
                  <a:moveTo>
                    <a:pt x="0" y="0"/>
                  </a:moveTo>
                  <a:lnTo>
                    <a:pt x="5689600" y="0"/>
                  </a:lnTo>
                  <a:lnTo>
                    <a:pt x="5689600" y="730250"/>
                  </a:lnTo>
                  <a:lnTo>
                    <a:pt x="0" y="730250"/>
                  </a:lnTo>
                  <a:close/>
                </a:path>
              </a:pathLst>
            </a:custGeom>
            <a:blipFill>
              <a:blip r:embed="rId2">
                <a:alphaModFix amt="0"/>
              </a:blip>
              <a:stretch>
                <a:fillRect l="0" t="-101813" r="0" b="-101813"/>
              </a:stretch>
            </a:blipFill>
          </p:spPr>
        </p:sp>
        <p:sp>
          <p:nvSpPr>
            <p:cNvPr name="TextBox 9" id="9"/>
            <p:cNvSpPr txBox="true"/>
            <p:nvPr/>
          </p:nvSpPr>
          <p:spPr>
            <a:xfrm>
              <a:off x="0" y="-19050"/>
              <a:ext cx="5689600" cy="749300"/>
            </a:xfrm>
            <a:prstGeom prst="rect">
              <a:avLst/>
            </a:prstGeom>
          </p:spPr>
          <p:txBody>
            <a:bodyPr anchor="ctr" rtlCol="false" tIns="0" lIns="0" bIns="0" rIns="0"/>
            <a:lstStyle/>
            <a:p>
              <a:pPr algn="r">
                <a:lnSpc>
                  <a:spcPts val="2160"/>
                </a:lnSpc>
              </a:pPr>
              <a:r>
                <a:rPr lang="en-US" b="true" sz="1800">
                  <a:solidFill>
                    <a:srgbClr val="FFFFFF"/>
                  </a:solidFill>
                  <a:latin typeface="Arimo Bold"/>
                  <a:ea typeface="Arimo Bold"/>
                  <a:cs typeface="Arimo Bold"/>
                  <a:sym typeface="Arimo Bold"/>
                </a:rPr>
                <a:t>6</a:t>
              </a:r>
            </a:p>
          </p:txBody>
        </p:sp>
      </p:grpSp>
      <p:grpSp>
        <p:nvGrpSpPr>
          <p:cNvPr name="Group 10" id="10"/>
          <p:cNvGrpSpPr/>
          <p:nvPr/>
        </p:nvGrpSpPr>
        <p:grpSpPr>
          <a:xfrm rot="0">
            <a:off x="6972300" y="9534525"/>
            <a:ext cx="4806001" cy="547688"/>
            <a:chOff x="0" y="0"/>
            <a:chExt cx="6408001" cy="730250"/>
          </a:xfrm>
        </p:grpSpPr>
        <p:sp>
          <p:nvSpPr>
            <p:cNvPr name="Freeform 11" id="11"/>
            <p:cNvSpPr/>
            <p:nvPr/>
          </p:nvSpPr>
          <p:spPr>
            <a:xfrm flipH="false" flipV="false" rot="0">
              <a:off x="0" y="0"/>
              <a:ext cx="6408000" cy="730250"/>
            </a:xfrm>
            <a:custGeom>
              <a:avLst/>
              <a:gdLst/>
              <a:ahLst/>
              <a:cxnLst/>
              <a:rect r="r" b="b" t="t" l="l"/>
              <a:pathLst>
                <a:path h="730250" w="6408000">
                  <a:moveTo>
                    <a:pt x="0" y="0"/>
                  </a:moveTo>
                  <a:lnTo>
                    <a:pt x="6408000" y="0"/>
                  </a:lnTo>
                  <a:lnTo>
                    <a:pt x="6408000" y="730250"/>
                  </a:lnTo>
                  <a:lnTo>
                    <a:pt x="0" y="730250"/>
                  </a:lnTo>
                  <a:close/>
                </a:path>
              </a:pathLst>
            </a:custGeom>
            <a:blipFill>
              <a:blip r:embed="rId2">
                <a:alphaModFix amt="0"/>
              </a:blip>
              <a:stretch>
                <a:fillRect l="0" t="-120982" r="0" b="-120982"/>
              </a:stretch>
            </a:blipFill>
          </p:spPr>
        </p:sp>
        <p:sp>
          <p:nvSpPr>
            <p:cNvPr name="TextBox 12" id="12"/>
            <p:cNvSpPr txBox="true"/>
            <p:nvPr/>
          </p:nvSpPr>
          <p:spPr>
            <a:xfrm>
              <a:off x="0" y="-19050"/>
              <a:ext cx="6408001" cy="749300"/>
            </a:xfrm>
            <a:prstGeom prst="rect">
              <a:avLst/>
            </a:prstGeom>
          </p:spPr>
          <p:txBody>
            <a:bodyPr anchor="ctr" rtlCol="false" tIns="0" lIns="0" bIns="0" rIns="0"/>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name="Group 13" id="13"/>
          <p:cNvGrpSpPr/>
          <p:nvPr/>
        </p:nvGrpSpPr>
        <p:grpSpPr>
          <a:xfrm rot="0">
            <a:off x="475612" y="359321"/>
            <a:ext cx="1915887" cy="1249101"/>
            <a:chOff x="0" y="0"/>
            <a:chExt cx="2554516" cy="1665468"/>
          </a:xfrm>
        </p:grpSpPr>
        <p:sp>
          <p:nvSpPr>
            <p:cNvPr name="Freeform 14" id="14" descr="Your startup LOGO"/>
            <p:cNvSpPr/>
            <p:nvPr/>
          </p:nvSpPr>
          <p:spPr>
            <a:xfrm flipH="false" flipV="false" rot="0">
              <a:off x="0" y="0"/>
              <a:ext cx="2554478" cy="1665481"/>
            </a:xfrm>
            <a:custGeom>
              <a:avLst/>
              <a:gdLst/>
              <a:ahLst/>
              <a:cxnLst/>
              <a:rect r="r" b="b" t="t" l="l"/>
              <a:pathLst>
                <a:path h="1665481" w="2554478">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name="TextBox 15" id="15"/>
            <p:cNvSpPr txBox="true"/>
            <p:nvPr/>
          </p:nvSpPr>
          <p:spPr>
            <a:xfrm>
              <a:off x="0" y="-57150"/>
              <a:ext cx="2554516" cy="1722618"/>
            </a:xfrm>
            <a:prstGeom prst="rect">
              <a:avLst/>
            </a:prstGeom>
          </p:spPr>
          <p:txBody>
            <a:bodyPr anchor="ctr" rtlCol="false" tIns="50800" lIns="50800" bIns="50800" rIns="50800"/>
            <a:lstStyle/>
            <a:p>
              <a:pPr algn="ctr">
                <a:lnSpc>
                  <a:spcPts val="3240"/>
                </a:lnSpc>
              </a:pPr>
              <a:r>
                <a:rPr lang="en-US" sz="2700">
                  <a:solidFill>
                    <a:srgbClr val="000000"/>
                  </a:solidFill>
                  <a:latin typeface="Calibri (MS)"/>
                  <a:ea typeface="Calibri (MS)"/>
                  <a:cs typeface="Calibri (MS)"/>
                  <a:sym typeface="Calibri (MS)"/>
                </a:rPr>
                <a:t>Shevolution</a:t>
              </a:r>
            </a:p>
          </p:txBody>
        </p:sp>
      </p:grpSp>
      <p:grpSp>
        <p:nvGrpSpPr>
          <p:cNvPr name="Group 16" id="16"/>
          <p:cNvGrpSpPr/>
          <p:nvPr/>
        </p:nvGrpSpPr>
        <p:grpSpPr>
          <a:xfrm rot="0">
            <a:off x="14670129" y="2248"/>
            <a:ext cx="3374774" cy="1593504"/>
            <a:chOff x="0" y="0"/>
            <a:chExt cx="4499699" cy="2124672"/>
          </a:xfrm>
        </p:grpSpPr>
        <p:sp>
          <p:nvSpPr>
            <p:cNvPr name="Freeform 17" id="17"/>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3"/>
              <a:stretch>
                <a:fillRect l="0" t="0" r="0" b="1"/>
              </a:stretch>
            </a:blipFill>
          </p:spPr>
        </p:sp>
      </p:grpSp>
      <p:grpSp>
        <p:nvGrpSpPr>
          <p:cNvPr name="Group 18" id="18"/>
          <p:cNvGrpSpPr/>
          <p:nvPr/>
        </p:nvGrpSpPr>
        <p:grpSpPr>
          <a:xfrm rot="0">
            <a:off x="570738" y="6929390"/>
            <a:ext cx="17327423" cy="493776"/>
            <a:chOff x="0" y="0"/>
            <a:chExt cx="23103230" cy="658368"/>
          </a:xfrm>
        </p:grpSpPr>
        <p:sp>
          <p:nvSpPr>
            <p:cNvPr name="Freeform 19" id="19"/>
            <p:cNvSpPr/>
            <p:nvPr/>
          </p:nvSpPr>
          <p:spPr>
            <a:xfrm flipH="false" flipV="false" rot="0">
              <a:off x="0" y="0"/>
              <a:ext cx="23103204" cy="658368"/>
            </a:xfrm>
            <a:custGeom>
              <a:avLst/>
              <a:gdLst/>
              <a:ahLst/>
              <a:cxnLst/>
              <a:rect r="r" b="b" t="t" l="l"/>
              <a:pathLst>
                <a:path h="658368" w="23103204">
                  <a:moveTo>
                    <a:pt x="0" y="128016"/>
                  </a:moveTo>
                  <a:cubicBezTo>
                    <a:pt x="0" y="57277"/>
                    <a:pt x="57277" y="0"/>
                    <a:pt x="128016" y="0"/>
                  </a:cubicBezTo>
                  <a:lnTo>
                    <a:pt x="22975188" y="0"/>
                  </a:lnTo>
                  <a:cubicBezTo>
                    <a:pt x="23045927" y="0"/>
                    <a:pt x="23103204" y="57277"/>
                    <a:pt x="23103204" y="128016"/>
                  </a:cubicBezTo>
                  <a:lnTo>
                    <a:pt x="23103204" y="530352"/>
                  </a:lnTo>
                  <a:cubicBezTo>
                    <a:pt x="23103204" y="601091"/>
                    <a:pt x="23045927" y="658368"/>
                    <a:pt x="22975188" y="658368"/>
                  </a:cubicBezTo>
                  <a:lnTo>
                    <a:pt x="128016" y="658368"/>
                  </a:lnTo>
                  <a:cubicBezTo>
                    <a:pt x="57277" y="658368"/>
                    <a:pt x="0" y="601091"/>
                    <a:pt x="0" y="530352"/>
                  </a:cubicBezTo>
                  <a:close/>
                </a:path>
              </a:pathLst>
            </a:custGeom>
            <a:solidFill>
              <a:srgbClr val="0B2545"/>
            </a:solidFill>
          </p:spPr>
        </p:sp>
      </p:grpSp>
      <p:grpSp>
        <p:nvGrpSpPr>
          <p:cNvPr name="Group 20" id="20"/>
          <p:cNvGrpSpPr/>
          <p:nvPr/>
        </p:nvGrpSpPr>
        <p:grpSpPr>
          <a:xfrm rot="0">
            <a:off x="630936" y="7013138"/>
            <a:ext cx="329184" cy="329184"/>
            <a:chOff x="0" y="0"/>
            <a:chExt cx="438912" cy="438912"/>
          </a:xfrm>
        </p:grpSpPr>
        <p:sp>
          <p:nvSpPr>
            <p:cNvPr name="Freeform 21" id="21" descr="/tmp/outputs/deck_assets/book_white.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4"/>
              <a:stretch>
                <a:fillRect l="0" t="0" r="0" b="0"/>
              </a:stretch>
            </a:blipFill>
          </p:spPr>
        </p:sp>
      </p:grpSp>
      <p:grpSp>
        <p:nvGrpSpPr>
          <p:cNvPr name="Group 22" id="22"/>
          <p:cNvGrpSpPr/>
          <p:nvPr/>
        </p:nvGrpSpPr>
        <p:grpSpPr>
          <a:xfrm rot="0">
            <a:off x="1027057" y="6967728"/>
            <a:ext cx="16696487" cy="493776"/>
            <a:chOff x="0" y="0"/>
            <a:chExt cx="22261982" cy="658368"/>
          </a:xfrm>
        </p:grpSpPr>
        <p:sp>
          <p:nvSpPr>
            <p:cNvPr name="Freeform 23" id="23"/>
            <p:cNvSpPr/>
            <p:nvPr/>
          </p:nvSpPr>
          <p:spPr>
            <a:xfrm flipH="false" flipV="false" rot="0">
              <a:off x="0" y="0"/>
              <a:ext cx="22261982" cy="658368"/>
            </a:xfrm>
            <a:custGeom>
              <a:avLst/>
              <a:gdLst/>
              <a:ahLst/>
              <a:cxnLst/>
              <a:rect r="r" b="b" t="t" l="l"/>
              <a:pathLst>
                <a:path h="658368" w="22261982">
                  <a:moveTo>
                    <a:pt x="0" y="0"/>
                  </a:moveTo>
                  <a:lnTo>
                    <a:pt x="22261982" y="0"/>
                  </a:lnTo>
                  <a:lnTo>
                    <a:pt x="22261982" y="658368"/>
                  </a:lnTo>
                  <a:lnTo>
                    <a:pt x="0" y="658368"/>
                  </a:lnTo>
                  <a:close/>
                </a:path>
              </a:pathLst>
            </a:custGeom>
            <a:blipFill>
              <a:blip r:embed="rId2">
                <a:alphaModFix amt="0"/>
              </a:blip>
              <a:stretch>
                <a:fillRect l="0" t="-608864" r="0" b="-608864"/>
              </a:stretch>
            </a:blipFill>
          </p:spPr>
        </p:sp>
        <p:sp>
          <p:nvSpPr>
            <p:cNvPr name="TextBox 24" id="24"/>
            <p:cNvSpPr txBox="true"/>
            <p:nvPr/>
          </p:nvSpPr>
          <p:spPr>
            <a:xfrm>
              <a:off x="0" y="-28575"/>
              <a:ext cx="22261982" cy="686943"/>
            </a:xfrm>
            <a:prstGeom prst="rect">
              <a:avLst/>
            </a:prstGeom>
          </p:spPr>
          <p:txBody>
            <a:bodyPr anchor="ctr" rtlCol="false" tIns="0" lIns="0" bIns="0" rIns="0"/>
            <a:lstStyle/>
            <a:p>
              <a:pPr algn="l">
                <a:lnSpc>
                  <a:spcPts val="2250"/>
                </a:lnSpc>
              </a:pPr>
              <a:r>
                <a:rPr lang="en-US" b="true" sz="1875" spc="75">
                  <a:solidFill>
                    <a:srgbClr val="FFFFFF"/>
                  </a:solidFill>
                  <a:latin typeface="Arial Bold"/>
                  <a:ea typeface="Arial Bold"/>
                  <a:cs typeface="Arial Bold"/>
                  <a:sym typeface="Arial Bold"/>
                </a:rPr>
                <a:t>PROJECT RESOURCES</a:t>
              </a:r>
            </a:p>
          </p:txBody>
        </p:sp>
      </p:grpSp>
      <p:grpSp>
        <p:nvGrpSpPr>
          <p:cNvPr name="Group 25" id="25"/>
          <p:cNvGrpSpPr/>
          <p:nvPr/>
        </p:nvGrpSpPr>
        <p:grpSpPr>
          <a:xfrm rot="0">
            <a:off x="611886" y="7461504"/>
            <a:ext cx="17305325" cy="2073021"/>
            <a:chOff x="0" y="0"/>
            <a:chExt cx="23073766" cy="2764028"/>
          </a:xfrm>
        </p:grpSpPr>
        <p:sp>
          <p:nvSpPr>
            <p:cNvPr name="Freeform 26" id="26"/>
            <p:cNvSpPr/>
            <p:nvPr/>
          </p:nvSpPr>
          <p:spPr>
            <a:xfrm flipH="false" flipV="false" rot="0">
              <a:off x="0" y="0"/>
              <a:ext cx="23073742" cy="2764028"/>
            </a:xfrm>
            <a:custGeom>
              <a:avLst/>
              <a:gdLst/>
              <a:ahLst/>
              <a:cxnLst/>
              <a:rect r="r" b="b" t="t" l="l"/>
              <a:pathLst>
                <a:path h="2764028" w="23073742">
                  <a:moveTo>
                    <a:pt x="0" y="125625"/>
                  </a:moveTo>
                  <a:cubicBezTo>
                    <a:pt x="0" y="56265"/>
                    <a:pt x="49539" y="0"/>
                    <a:pt x="110608" y="0"/>
                  </a:cubicBezTo>
                  <a:lnTo>
                    <a:pt x="22963133" y="0"/>
                  </a:lnTo>
                  <a:cubicBezTo>
                    <a:pt x="23024202" y="0"/>
                    <a:pt x="23073742" y="56265"/>
                    <a:pt x="23073742" y="125625"/>
                  </a:cubicBezTo>
                  <a:lnTo>
                    <a:pt x="23073742" y="2638403"/>
                  </a:lnTo>
                  <a:cubicBezTo>
                    <a:pt x="23073742" y="2707763"/>
                    <a:pt x="23024202" y="2764028"/>
                    <a:pt x="22963133" y="2764028"/>
                  </a:cubicBezTo>
                  <a:lnTo>
                    <a:pt x="110608" y="2764028"/>
                  </a:lnTo>
                  <a:cubicBezTo>
                    <a:pt x="49539" y="2764028"/>
                    <a:pt x="0" y="2707763"/>
                    <a:pt x="0" y="2638403"/>
                  </a:cubicBezTo>
                  <a:close/>
                </a:path>
              </a:pathLst>
            </a:custGeom>
            <a:solidFill>
              <a:srgbClr val="F4F7FA"/>
            </a:solidFill>
            <a:ln w="19050" cap="sq">
              <a:solidFill>
                <a:srgbClr val="C9D3DE"/>
              </a:solidFill>
              <a:prstDash val="solid"/>
              <a:miter/>
            </a:ln>
          </p:spPr>
        </p:sp>
      </p:grpSp>
      <p:grpSp>
        <p:nvGrpSpPr>
          <p:cNvPr name="Group 27" id="27"/>
          <p:cNvGrpSpPr/>
          <p:nvPr/>
        </p:nvGrpSpPr>
        <p:grpSpPr>
          <a:xfrm rot="0">
            <a:off x="749808" y="7661529"/>
            <a:ext cx="329184" cy="329184"/>
            <a:chOff x="0" y="0"/>
            <a:chExt cx="438912" cy="438912"/>
          </a:xfrm>
        </p:grpSpPr>
        <p:sp>
          <p:nvSpPr>
            <p:cNvPr name="Freeform 28" id="28" descr="/tmp/outputs/deck_assets/github_navy.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5"/>
              <a:stretch>
                <a:fillRect l="0" t="0" r="0" b="0"/>
              </a:stretch>
            </a:blipFill>
          </p:spPr>
        </p:sp>
      </p:grpSp>
      <p:grpSp>
        <p:nvGrpSpPr>
          <p:cNvPr name="Group 29" id="29"/>
          <p:cNvGrpSpPr/>
          <p:nvPr/>
        </p:nvGrpSpPr>
        <p:grpSpPr>
          <a:xfrm rot="0">
            <a:off x="749808" y="8168450"/>
            <a:ext cx="329184" cy="329184"/>
            <a:chOff x="0" y="0"/>
            <a:chExt cx="438912" cy="438912"/>
          </a:xfrm>
        </p:grpSpPr>
        <p:sp>
          <p:nvSpPr>
            <p:cNvPr name="Freeform 30" id="30" descr="/tmp/outputs/deck_assets/book_navy.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6"/>
              <a:stretch>
                <a:fillRect l="0" t="0" r="0" b="0"/>
              </a:stretch>
            </a:blipFill>
          </p:spPr>
        </p:sp>
      </p:grpSp>
      <p:grpSp>
        <p:nvGrpSpPr>
          <p:cNvPr name="Group 31" id="31"/>
          <p:cNvGrpSpPr/>
          <p:nvPr/>
        </p:nvGrpSpPr>
        <p:grpSpPr>
          <a:xfrm rot="0">
            <a:off x="749808" y="8610600"/>
            <a:ext cx="329184" cy="329184"/>
            <a:chOff x="0" y="0"/>
            <a:chExt cx="438912" cy="438912"/>
          </a:xfrm>
        </p:grpSpPr>
        <p:sp>
          <p:nvSpPr>
            <p:cNvPr name="Freeform 32" id="32" descr="/tmp/outputs/deck_assets/book_navy.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6"/>
              <a:stretch>
                <a:fillRect l="0" t="0" r="0" b="0"/>
              </a:stretch>
            </a:blipFill>
          </p:spPr>
        </p:sp>
      </p:grpSp>
      <p:grpSp>
        <p:nvGrpSpPr>
          <p:cNvPr name="Group 33" id="33"/>
          <p:cNvGrpSpPr/>
          <p:nvPr/>
        </p:nvGrpSpPr>
        <p:grpSpPr>
          <a:xfrm rot="0">
            <a:off x="749808" y="9038844"/>
            <a:ext cx="329184" cy="329184"/>
            <a:chOff x="0" y="0"/>
            <a:chExt cx="438912" cy="438912"/>
          </a:xfrm>
        </p:grpSpPr>
        <p:sp>
          <p:nvSpPr>
            <p:cNvPr name="Freeform 34" id="34" descr="/tmp/outputs/deck_assets/book_navy.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6"/>
              <a:stretch>
                <a:fillRect l="0" t="0" r="0" b="0"/>
              </a:stretch>
            </a:blipFill>
          </p:spPr>
        </p:sp>
      </p:grpSp>
      <p:grpSp>
        <p:nvGrpSpPr>
          <p:cNvPr name="Group 35" id="35"/>
          <p:cNvGrpSpPr/>
          <p:nvPr/>
        </p:nvGrpSpPr>
        <p:grpSpPr>
          <a:xfrm rot="0">
            <a:off x="1225939" y="7506200"/>
            <a:ext cx="16298723" cy="692420"/>
            <a:chOff x="0" y="0"/>
            <a:chExt cx="21731630" cy="923227"/>
          </a:xfrm>
        </p:grpSpPr>
        <p:sp>
          <p:nvSpPr>
            <p:cNvPr name="Freeform 36" id="36"/>
            <p:cNvSpPr/>
            <p:nvPr/>
          </p:nvSpPr>
          <p:spPr>
            <a:xfrm flipH="false" flipV="false" rot="0">
              <a:off x="0" y="0"/>
              <a:ext cx="21731630" cy="923226"/>
            </a:xfrm>
            <a:custGeom>
              <a:avLst/>
              <a:gdLst/>
              <a:ahLst/>
              <a:cxnLst/>
              <a:rect r="r" b="b" t="t" l="l"/>
              <a:pathLst>
                <a:path h="923226" w="21731630">
                  <a:moveTo>
                    <a:pt x="0" y="0"/>
                  </a:moveTo>
                  <a:lnTo>
                    <a:pt x="21731630" y="0"/>
                  </a:lnTo>
                  <a:lnTo>
                    <a:pt x="21731630" y="923226"/>
                  </a:lnTo>
                  <a:lnTo>
                    <a:pt x="0" y="923226"/>
                  </a:lnTo>
                  <a:close/>
                </a:path>
              </a:pathLst>
            </a:custGeom>
            <a:blipFill>
              <a:blip r:embed="rId2">
                <a:alphaModFix amt="0"/>
              </a:blip>
              <a:stretch>
                <a:fillRect l="0" t="-429931" r="0" b="-387376"/>
              </a:stretch>
            </a:blipFill>
          </p:spPr>
        </p:sp>
        <p:sp>
          <p:nvSpPr>
            <p:cNvPr name="TextBox 37" id="37"/>
            <p:cNvSpPr txBox="true"/>
            <p:nvPr/>
          </p:nvSpPr>
          <p:spPr>
            <a:xfrm>
              <a:off x="0" y="-9525"/>
              <a:ext cx="21731630" cy="932752"/>
            </a:xfrm>
            <a:prstGeom prst="rect">
              <a:avLst/>
            </a:prstGeom>
          </p:spPr>
          <p:txBody>
            <a:bodyPr anchor="ctr" rtlCol="false" tIns="0" lIns="0" bIns="0" rIns="0"/>
            <a:lstStyle/>
            <a:p>
              <a:pPr algn="l">
                <a:lnSpc>
                  <a:spcPts val="1889"/>
                </a:lnSpc>
              </a:pPr>
              <a:r>
                <a:rPr lang="en-US" sz="1575" b="true">
                  <a:solidFill>
                    <a:srgbClr val="0B2545"/>
                  </a:solidFill>
                  <a:latin typeface="Arial Bold"/>
                  <a:ea typeface="Arial Bold"/>
                  <a:cs typeface="Arial Bold"/>
                  <a:sym typeface="Arial Bold"/>
                </a:rPr>
                <a:t>Repository:</a:t>
              </a:r>
              <a:r>
                <a:rPr lang="en-US" b="true" sz="1575" u="sng">
                  <a:solidFill>
                    <a:srgbClr val="0B2545"/>
                  </a:solidFill>
                  <a:latin typeface="Arial Bold"/>
                  <a:ea typeface="Arial Bold"/>
                  <a:cs typeface="Arial Bold"/>
                  <a:sym typeface="Arial Bold"/>
                  <a:hlinkClick r:id="rId7" tooltip="https://github.com/reiabaid/SIH"/>
                </a:rPr>
                <a:t>Repo LInk</a:t>
              </a:r>
            </a:p>
          </p:txBody>
        </p:sp>
      </p:grpSp>
      <p:grpSp>
        <p:nvGrpSpPr>
          <p:cNvPr name="Group 38" id="38"/>
          <p:cNvGrpSpPr/>
          <p:nvPr/>
        </p:nvGrpSpPr>
        <p:grpSpPr>
          <a:xfrm rot="0">
            <a:off x="1225939" y="8134160"/>
            <a:ext cx="16298723" cy="397764"/>
            <a:chOff x="0" y="0"/>
            <a:chExt cx="21731630" cy="530352"/>
          </a:xfrm>
        </p:grpSpPr>
        <p:sp>
          <p:nvSpPr>
            <p:cNvPr name="Freeform 39" id="39"/>
            <p:cNvSpPr/>
            <p:nvPr/>
          </p:nvSpPr>
          <p:spPr>
            <a:xfrm flipH="false" flipV="false" rot="0">
              <a:off x="0" y="0"/>
              <a:ext cx="21731630" cy="530352"/>
            </a:xfrm>
            <a:custGeom>
              <a:avLst/>
              <a:gdLst/>
              <a:ahLst/>
              <a:cxnLst/>
              <a:rect r="r" b="b" t="t" l="l"/>
              <a:pathLst>
                <a:path h="530352" w="21731630">
                  <a:moveTo>
                    <a:pt x="0" y="0"/>
                  </a:moveTo>
                  <a:lnTo>
                    <a:pt x="21731630" y="0"/>
                  </a:lnTo>
                  <a:lnTo>
                    <a:pt x="21731630" y="530352"/>
                  </a:lnTo>
                  <a:lnTo>
                    <a:pt x="0" y="530352"/>
                  </a:lnTo>
                  <a:close/>
                </a:path>
              </a:pathLst>
            </a:custGeom>
            <a:blipFill>
              <a:blip r:embed="rId2">
                <a:alphaModFix amt="0"/>
              </a:blip>
              <a:stretch>
                <a:fillRect l="0" t="-748416" r="0" b="-748416"/>
              </a:stretch>
            </a:blipFill>
          </p:spPr>
        </p:sp>
        <p:sp>
          <p:nvSpPr>
            <p:cNvPr name="TextBox 40" id="40"/>
            <p:cNvSpPr txBox="true"/>
            <p:nvPr/>
          </p:nvSpPr>
          <p:spPr>
            <a:xfrm>
              <a:off x="0" y="-9525"/>
              <a:ext cx="21731630" cy="539877"/>
            </a:xfrm>
            <a:prstGeom prst="rect">
              <a:avLst/>
            </a:prstGeom>
          </p:spPr>
          <p:txBody>
            <a:bodyPr anchor="ctr" rtlCol="false" tIns="0" lIns="0" bIns="0" rIns="0"/>
            <a:lstStyle/>
            <a:p>
              <a:pPr algn="l">
                <a:lnSpc>
                  <a:spcPts val="1889"/>
                </a:lnSpc>
              </a:pPr>
              <a:r>
                <a:rPr lang="en-US" sz="1575" b="true">
                  <a:solidFill>
                    <a:srgbClr val="0B2545"/>
                  </a:solidFill>
                  <a:latin typeface="Arial Bold"/>
                  <a:ea typeface="Arial Bold"/>
                  <a:cs typeface="Arial Bold"/>
                  <a:sym typeface="Arial Bold"/>
                </a:rPr>
                <a:t>Presentation deck (narrative version):  </a:t>
              </a:r>
              <a:r>
                <a:rPr lang="en-US" b="true" sz="1575" u="sng">
                  <a:solidFill>
                    <a:srgbClr val="0B2545"/>
                  </a:solidFill>
                  <a:latin typeface="Arial Bold"/>
                  <a:ea typeface="Arial Bold"/>
                  <a:cs typeface="Arial Bold"/>
                  <a:sym typeface="Arial Bold"/>
                  <a:hlinkClick r:id="rId8" tooltip="https://canva.link/ikn4r2c6glqn5mm"/>
                </a:rPr>
                <a:t>Presentation Link</a:t>
              </a:r>
            </a:p>
          </p:txBody>
        </p:sp>
      </p:grpSp>
      <p:grpSp>
        <p:nvGrpSpPr>
          <p:cNvPr name="Group 41" id="41"/>
          <p:cNvGrpSpPr/>
          <p:nvPr/>
        </p:nvGrpSpPr>
        <p:grpSpPr>
          <a:xfrm rot="0">
            <a:off x="1225939" y="8579548"/>
            <a:ext cx="16298723" cy="397764"/>
            <a:chOff x="0" y="0"/>
            <a:chExt cx="21731630" cy="530352"/>
          </a:xfrm>
        </p:grpSpPr>
        <p:sp>
          <p:nvSpPr>
            <p:cNvPr name="Freeform 42" id="42"/>
            <p:cNvSpPr/>
            <p:nvPr/>
          </p:nvSpPr>
          <p:spPr>
            <a:xfrm flipH="false" flipV="false" rot="0">
              <a:off x="0" y="0"/>
              <a:ext cx="21731630" cy="530352"/>
            </a:xfrm>
            <a:custGeom>
              <a:avLst/>
              <a:gdLst/>
              <a:ahLst/>
              <a:cxnLst/>
              <a:rect r="r" b="b" t="t" l="l"/>
              <a:pathLst>
                <a:path h="530352" w="21731630">
                  <a:moveTo>
                    <a:pt x="0" y="0"/>
                  </a:moveTo>
                  <a:lnTo>
                    <a:pt x="21731630" y="0"/>
                  </a:lnTo>
                  <a:lnTo>
                    <a:pt x="21731630" y="530352"/>
                  </a:lnTo>
                  <a:lnTo>
                    <a:pt x="0" y="530352"/>
                  </a:lnTo>
                  <a:close/>
                </a:path>
              </a:pathLst>
            </a:custGeom>
            <a:blipFill>
              <a:blip r:embed="rId2">
                <a:alphaModFix amt="0"/>
              </a:blip>
              <a:stretch>
                <a:fillRect l="0" t="-748416" r="0" b="-748416"/>
              </a:stretch>
            </a:blipFill>
          </p:spPr>
        </p:sp>
        <p:sp>
          <p:nvSpPr>
            <p:cNvPr name="TextBox 43" id="43"/>
            <p:cNvSpPr txBox="true"/>
            <p:nvPr/>
          </p:nvSpPr>
          <p:spPr>
            <a:xfrm>
              <a:off x="0" y="-9525"/>
              <a:ext cx="21731630" cy="539877"/>
            </a:xfrm>
            <a:prstGeom prst="rect">
              <a:avLst/>
            </a:prstGeom>
          </p:spPr>
          <p:txBody>
            <a:bodyPr anchor="ctr" rtlCol="false" tIns="0" lIns="0" bIns="0" rIns="0"/>
            <a:lstStyle/>
            <a:p>
              <a:pPr algn="l">
                <a:lnSpc>
                  <a:spcPts val="1889"/>
                </a:lnSpc>
              </a:pPr>
              <a:r>
                <a:rPr lang="en-US" sz="1575" b="true">
                  <a:solidFill>
                    <a:srgbClr val="0B2545"/>
                  </a:solidFill>
                  <a:latin typeface="Arial Bold"/>
                  <a:ea typeface="Arial Bold"/>
                  <a:cs typeface="Arial Bold"/>
                  <a:sym typeface="Arial Bold"/>
                </a:rPr>
                <a:t>Test suite:  </a:t>
              </a:r>
              <a:r>
                <a:rPr lang="en-US" sz="1575">
                  <a:solidFill>
                    <a:srgbClr val="5B6570"/>
                  </a:solidFill>
                  <a:latin typeface="Arial"/>
                  <a:ea typeface="Arial"/>
                  <a:cs typeface="Arial"/>
                  <a:sym typeface="Arial"/>
                </a:rPr>
                <a:t>188 automated tests — tests/ directory</a:t>
              </a:r>
            </a:p>
          </p:txBody>
        </p:sp>
      </p:grpSp>
      <p:grpSp>
        <p:nvGrpSpPr>
          <p:cNvPr name="Group 44" id="44"/>
          <p:cNvGrpSpPr/>
          <p:nvPr/>
        </p:nvGrpSpPr>
        <p:grpSpPr>
          <a:xfrm rot="0">
            <a:off x="1234440" y="8976957"/>
            <a:ext cx="16298723" cy="562687"/>
            <a:chOff x="0" y="0"/>
            <a:chExt cx="21731630" cy="750249"/>
          </a:xfrm>
        </p:grpSpPr>
        <p:sp>
          <p:nvSpPr>
            <p:cNvPr name="Freeform 45" id="45"/>
            <p:cNvSpPr/>
            <p:nvPr/>
          </p:nvSpPr>
          <p:spPr>
            <a:xfrm flipH="false" flipV="false" rot="0">
              <a:off x="0" y="0"/>
              <a:ext cx="21731630" cy="750249"/>
            </a:xfrm>
            <a:custGeom>
              <a:avLst/>
              <a:gdLst/>
              <a:ahLst/>
              <a:cxnLst/>
              <a:rect r="r" b="b" t="t" l="l"/>
              <a:pathLst>
                <a:path h="750249" w="21731630">
                  <a:moveTo>
                    <a:pt x="0" y="0"/>
                  </a:moveTo>
                  <a:lnTo>
                    <a:pt x="21731630" y="0"/>
                  </a:lnTo>
                  <a:lnTo>
                    <a:pt x="21731630" y="750249"/>
                  </a:lnTo>
                  <a:lnTo>
                    <a:pt x="0" y="750249"/>
                  </a:lnTo>
                  <a:close/>
                </a:path>
              </a:pathLst>
            </a:custGeom>
            <a:blipFill>
              <a:blip r:embed="rId2">
                <a:alphaModFix amt="0"/>
              </a:blip>
              <a:stretch>
                <a:fillRect l="0" t="-529056" r="0" b="-499746"/>
              </a:stretch>
            </a:blipFill>
          </p:spPr>
        </p:sp>
        <p:sp>
          <p:nvSpPr>
            <p:cNvPr name="TextBox 46" id="46"/>
            <p:cNvSpPr txBox="true"/>
            <p:nvPr/>
          </p:nvSpPr>
          <p:spPr>
            <a:xfrm>
              <a:off x="0" y="-9525"/>
              <a:ext cx="21731630" cy="759774"/>
            </a:xfrm>
            <a:prstGeom prst="rect">
              <a:avLst/>
            </a:prstGeom>
          </p:spPr>
          <p:txBody>
            <a:bodyPr anchor="ctr" rtlCol="false" tIns="0" lIns="0" bIns="0" rIns="0"/>
            <a:lstStyle/>
            <a:p>
              <a:pPr algn="l">
                <a:lnSpc>
                  <a:spcPts val="1889"/>
                </a:lnSpc>
              </a:pPr>
              <a:r>
                <a:rPr lang="en-US" sz="1575" b="true">
                  <a:solidFill>
                    <a:srgbClr val="0B2545"/>
                  </a:solidFill>
                  <a:latin typeface="Arial Bold"/>
                  <a:ea typeface="Arial Bold"/>
                  <a:cs typeface="Arial Bold"/>
                  <a:sym typeface="Arial Bold"/>
                </a:rPr>
                <a:t>Datasets Used</a:t>
              </a:r>
              <a:r>
                <a:rPr lang="en-US" sz="1575" b="true">
                  <a:solidFill>
                    <a:srgbClr val="0B2545"/>
                  </a:solidFill>
                  <a:latin typeface="Arial Bold"/>
                  <a:ea typeface="Arial Bold"/>
                  <a:cs typeface="Arial Bold"/>
                  <a:sym typeface="Arial Bold"/>
                </a:rPr>
                <a:t>:  </a:t>
              </a:r>
              <a:r>
                <a:rPr lang="en-US" b="true" sz="1575" u="sng">
                  <a:solidFill>
                    <a:srgbClr val="0B2545"/>
                  </a:solidFill>
                  <a:latin typeface="Arial Bold"/>
                  <a:ea typeface="Arial Bold"/>
                  <a:cs typeface="Arial Bold"/>
                  <a:sym typeface="Arial Bold"/>
                  <a:hlinkClick r:id="rId9" tooltip="https://data.lroc.im-ldi.com/lroc/search"/>
                </a:rPr>
                <a:t>https://data.lroc.im-ldi.com/lroc/search</a:t>
              </a:r>
              <a:r>
                <a:rPr lang="en-US" sz="1575" b="true">
                  <a:solidFill>
                    <a:srgbClr val="0B2545"/>
                  </a:solidFill>
                  <a:latin typeface="Arial Bold"/>
                  <a:ea typeface="Arial Bold"/>
                  <a:cs typeface="Arial Bold"/>
                  <a:sym typeface="Arial Bold"/>
                </a:rPr>
                <a:t> ,</a:t>
              </a:r>
              <a:r>
                <a:rPr lang="en-US" b="true" sz="1575" u="sng">
                  <a:solidFill>
                    <a:srgbClr val="0B2545"/>
                  </a:solidFill>
                  <a:latin typeface="Arial Bold"/>
                  <a:ea typeface="Arial Bold"/>
                  <a:cs typeface="Arial Bold"/>
                  <a:sym typeface="Arial Bold"/>
                </a:rPr>
                <a:t>https://archive.org/details/chandrayaan-2-high-resolution-images-of-the-moon/OtherDownloads/CHACE-2/CHACE2_User_manual/</a:t>
              </a:r>
            </a:p>
          </p:txBody>
        </p:sp>
      </p:grpSp>
      <p:grpSp>
        <p:nvGrpSpPr>
          <p:cNvPr name="Group 47" id="47"/>
          <p:cNvGrpSpPr/>
          <p:nvPr/>
        </p:nvGrpSpPr>
        <p:grpSpPr>
          <a:xfrm rot="0">
            <a:off x="630936" y="1595752"/>
            <a:ext cx="17327423" cy="493776"/>
            <a:chOff x="0" y="0"/>
            <a:chExt cx="23103230" cy="658368"/>
          </a:xfrm>
        </p:grpSpPr>
        <p:sp>
          <p:nvSpPr>
            <p:cNvPr name="Freeform 48" id="48"/>
            <p:cNvSpPr/>
            <p:nvPr/>
          </p:nvSpPr>
          <p:spPr>
            <a:xfrm flipH="false" flipV="false" rot="0">
              <a:off x="0" y="0"/>
              <a:ext cx="23103204" cy="658368"/>
            </a:xfrm>
            <a:custGeom>
              <a:avLst/>
              <a:gdLst/>
              <a:ahLst/>
              <a:cxnLst/>
              <a:rect r="r" b="b" t="t" l="l"/>
              <a:pathLst>
                <a:path h="658368" w="23103204">
                  <a:moveTo>
                    <a:pt x="0" y="128016"/>
                  </a:moveTo>
                  <a:cubicBezTo>
                    <a:pt x="0" y="57277"/>
                    <a:pt x="57277" y="0"/>
                    <a:pt x="128016" y="0"/>
                  </a:cubicBezTo>
                  <a:lnTo>
                    <a:pt x="22975188" y="0"/>
                  </a:lnTo>
                  <a:cubicBezTo>
                    <a:pt x="23045927" y="0"/>
                    <a:pt x="23103204" y="57277"/>
                    <a:pt x="23103204" y="128016"/>
                  </a:cubicBezTo>
                  <a:lnTo>
                    <a:pt x="23103204" y="530352"/>
                  </a:lnTo>
                  <a:cubicBezTo>
                    <a:pt x="23103204" y="601091"/>
                    <a:pt x="23045927" y="658368"/>
                    <a:pt x="22975188" y="658368"/>
                  </a:cubicBezTo>
                  <a:lnTo>
                    <a:pt x="128016" y="658368"/>
                  </a:lnTo>
                  <a:cubicBezTo>
                    <a:pt x="57277" y="658368"/>
                    <a:pt x="0" y="601091"/>
                    <a:pt x="0" y="530352"/>
                  </a:cubicBezTo>
                  <a:close/>
                </a:path>
              </a:pathLst>
            </a:custGeom>
            <a:solidFill>
              <a:srgbClr val="0B2545"/>
            </a:solidFill>
          </p:spPr>
        </p:sp>
      </p:grpSp>
      <p:grpSp>
        <p:nvGrpSpPr>
          <p:cNvPr name="Group 49" id="49"/>
          <p:cNvGrpSpPr/>
          <p:nvPr/>
        </p:nvGrpSpPr>
        <p:grpSpPr>
          <a:xfrm rot="0">
            <a:off x="726948" y="1595752"/>
            <a:ext cx="16696487" cy="493776"/>
            <a:chOff x="0" y="0"/>
            <a:chExt cx="22261982" cy="658368"/>
          </a:xfrm>
        </p:grpSpPr>
        <p:sp>
          <p:nvSpPr>
            <p:cNvPr name="Freeform 50" id="50"/>
            <p:cNvSpPr/>
            <p:nvPr/>
          </p:nvSpPr>
          <p:spPr>
            <a:xfrm flipH="false" flipV="false" rot="0">
              <a:off x="0" y="0"/>
              <a:ext cx="22261982" cy="658368"/>
            </a:xfrm>
            <a:custGeom>
              <a:avLst/>
              <a:gdLst/>
              <a:ahLst/>
              <a:cxnLst/>
              <a:rect r="r" b="b" t="t" l="l"/>
              <a:pathLst>
                <a:path h="658368" w="22261982">
                  <a:moveTo>
                    <a:pt x="0" y="0"/>
                  </a:moveTo>
                  <a:lnTo>
                    <a:pt x="22261982" y="0"/>
                  </a:lnTo>
                  <a:lnTo>
                    <a:pt x="22261982" y="658368"/>
                  </a:lnTo>
                  <a:lnTo>
                    <a:pt x="0" y="658368"/>
                  </a:lnTo>
                  <a:close/>
                </a:path>
              </a:pathLst>
            </a:custGeom>
            <a:blipFill>
              <a:blip r:embed="rId2">
                <a:alphaModFix amt="0"/>
              </a:blip>
              <a:stretch>
                <a:fillRect l="0" t="-608864" r="0" b="-608864"/>
              </a:stretch>
            </a:blipFill>
          </p:spPr>
        </p:sp>
        <p:sp>
          <p:nvSpPr>
            <p:cNvPr name="TextBox 51" id="51"/>
            <p:cNvSpPr txBox="true"/>
            <p:nvPr/>
          </p:nvSpPr>
          <p:spPr>
            <a:xfrm>
              <a:off x="0" y="-28575"/>
              <a:ext cx="22261982" cy="686943"/>
            </a:xfrm>
            <a:prstGeom prst="rect">
              <a:avLst/>
            </a:prstGeom>
          </p:spPr>
          <p:txBody>
            <a:bodyPr anchor="ctr" rtlCol="false" tIns="0" lIns="0" bIns="0" rIns="0"/>
            <a:lstStyle/>
            <a:p>
              <a:pPr algn="l">
                <a:lnSpc>
                  <a:spcPts val="2250"/>
                </a:lnSpc>
              </a:pPr>
              <a:r>
                <a:rPr lang="en-US" b="true" sz="1875" spc="75">
                  <a:solidFill>
                    <a:srgbClr val="FFFFFF"/>
                  </a:solidFill>
                  <a:latin typeface="Arial Bold"/>
                  <a:ea typeface="Arial Bold"/>
                  <a:cs typeface="Arial Bold"/>
                  <a:sym typeface="Arial Bold"/>
                </a:rPr>
                <a:t>RESEARCH USED</a:t>
              </a:r>
            </a:p>
          </p:txBody>
        </p:sp>
      </p:grpSp>
      <p:grpSp>
        <p:nvGrpSpPr>
          <p:cNvPr name="Group 52" id="52"/>
          <p:cNvGrpSpPr/>
          <p:nvPr/>
        </p:nvGrpSpPr>
        <p:grpSpPr>
          <a:xfrm rot="0">
            <a:off x="589788" y="2089528"/>
            <a:ext cx="17346473" cy="1972611"/>
            <a:chOff x="0" y="0"/>
            <a:chExt cx="23128630" cy="2630148"/>
          </a:xfrm>
        </p:grpSpPr>
        <p:sp>
          <p:nvSpPr>
            <p:cNvPr name="Freeform 53" id="53"/>
            <p:cNvSpPr/>
            <p:nvPr/>
          </p:nvSpPr>
          <p:spPr>
            <a:xfrm flipH="false" flipV="false" rot="0">
              <a:off x="0" y="0"/>
              <a:ext cx="23128604" cy="2630148"/>
            </a:xfrm>
            <a:custGeom>
              <a:avLst/>
              <a:gdLst/>
              <a:ahLst/>
              <a:cxnLst/>
              <a:rect r="r" b="b" t="t" l="l"/>
              <a:pathLst>
                <a:path h="2630148" w="23128604">
                  <a:moveTo>
                    <a:pt x="0" y="83027"/>
                  </a:moveTo>
                  <a:cubicBezTo>
                    <a:pt x="0" y="37219"/>
                    <a:pt x="49530" y="0"/>
                    <a:pt x="110490" y="0"/>
                  </a:cubicBezTo>
                  <a:lnTo>
                    <a:pt x="23018114" y="0"/>
                  </a:lnTo>
                  <a:cubicBezTo>
                    <a:pt x="23079202" y="0"/>
                    <a:pt x="23128604" y="37219"/>
                    <a:pt x="23128604" y="83027"/>
                  </a:cubicBezTo>
                  <a:lnTo>
                    <a:pt x="23128604" y="2547121"/>
                  </a:lnTo>
                  <a:cubicBezTo>
                    <a:pt x="23128604" y="2593024"/>
                    <a:pt x="23079075" y="2630148"/>
                    <a:pt x="23018114" y="2630148"/>
                  </a:cubicBezTo>
                  <a:lnTo>
                    <a:pt x="110490" y="2630148"/>
                  </a:lnTo>
                  <a:cubicBezTo>
                    <a:pt x="49403" y="2630148"/>
                    <a:pt x="0" y="2592929"/>
                    <a:pt x="0" y="2547121"/>
                  </a:cubicBezTo>
                  <a:close/>
                </a:path>
              </a:pathLst>
            </a:custGeom>
            <a:solidFill>
              <a:srgbClr val="EEF3FA"/>
            </a:solidFill>
            <a:ln w="19050" cap="sq">
              <a:solidFill>
                <a:srgbClr val="C9D3DE"/>
              </a:solidFill>
              <a:prstDash val="solid"/>
              <a:miter/>
            </a:ln>
          </p:spPr>
        </p:sp>
      </p:grpSp>
      <p:sp>
        <p:nvSpPr>
          <p:cNvPr name="TextBox 54" id="54"/>
          <p:cNvSpPr txBox="true"/>
          <p:nvPr/>
        </p:nvSpPr>
        <p:spPr>
          <a:xfrm rot="0">
            <a:off x="617472" y="2204812"/>
            <a:ext cx="16915438" cy="1575397"/>
          </a:xfrm>
          <a:prstGeom prst="rect">
            <a:avLst/>
          </a:prstGeom>
        </p:spPr>
        <p:txBody>
          <a:bodyPr anchor="t" rtlCol="false" tIns="0" lIns="0" bIns="0" rIns="0">
            <a:spAutoFit/>
          </a:bodyPr>
          <a:lstStyle/>
          <a:p>
            <a:pPr algn="l" marL="362852" indent="-181426" lvl="1">
              <a:lnSpc>
                <a:spcPts val="2526"/>
              </a:lnSpc>
              <a:buFont typeface="Arial"/>
              <a:buChar char="•"/>
            </a:pPr>
            <a:r>
              <a:rPr lang="en-US" b="true" sz="2004">
                <a:solidFill>
                  <a:srgbClr val="FC9223"/>
                </a:solidFill>
                <a:latin typeface="Arial Bold"/>
                <a:ea typeface="Arial Bold"/>
                <a:cs typeface="Arial Bold"/>
                <a:sym typeface="Arial Bold"/>
              </a:rPr>
              <a:t>Illum</a:t>
            </a:r>
            <a:r>
              <a:rPr lang="en-US" b="true" sz="2004">
                <a:solidFill>
                  <a:srgbClr val="FC9223"/>
                </a:solidFill>
                <a:latin typeface="Arial Bold"/>
                <a:ea typeface="Arial Bold"/>
                <a:cs typeface="Arial Bold"/>
                <a:sym typeface="Arial Bold"/>
              </a:rPr>
              <a:t>ination-Robust Matching</a:t>
            </a:r>
            <a:r>
              <a:rPr lang="en-US" b="true" sz="2004">
                <a:solidFill>
                  <a:srgbClr val="0B2545"/>
                </a:solidFill>
                <a:latin typeface="Arial Bold"/>
                <a:ea typeface="Arial Bold"/>
                <a:cs typeface="Arial Bold"/>
                <a:sym typeface="Arial Bold"/>
              </a:rPr>
              <a:t>: Research on orientation-based features helped us handle changes in lunar lighting.</a:t>
            </a:r>
          </a:p>
          <a:p>
            <a:pPr algn="l" marL="362852" indent="-181426" lvl="1">
              <a:lnSpc>
                <a:spcPts val="2526"/>
              </a:lnSpc>
              <a:buFont typeface="Arial"/>
              <a:buChar char="•"/>
            </a:pPr>
            <a:r>
              <a:rPr lang="en-US" b="true" sz="2004">
                <a:solidFill>
                  <a:srgbClr val="FC9223"/>
                </a:solidFill>
                <a:latin typeface="Arial Bold"/>
                <a:ea typeface="Arial Bold"/>
                <a:cs typeface="Arial Bold"/>
                <a:sym typeface="Arial Bold"/>
              </a:rPr>
              <a:t>SIFT &amp; LightGlue</a:t>
            </a:r>
            <a:r>
              <a:rPr lang="en-US" b="true" sz="2004">
                <a:solidFill>
                  <a:srgbClr val="0B2545"/>
                </a:solidFill>
                <a:latin typeface="Arial Bold"/>
                <a:ea typeface="Arial Bold"/>
                <a:cs typeface="Arial Bold"/>
                <a:sym typeface="Arial Bold"/>
              </a:rPr>
              <a:t>: Used as baseline and modern matching approaches for comparison.</a:t>
            </a:r>
          </a:p>
          <a:p>
            <a:pPr algn="l" marL="362852" indent="-181426" lvl="1">
              <a:lnSpc>
                <a:spcPts val="2526"/>
              </a:lnSpc>
              <a:buFont typeface="Arial"/>
              <a:buChar char="•"/>
            </a:pPr>
            <a:r>
              <a:rPr lang="en-US" b="true" sz="2004">
                <a:solidFill>
                  <a:srgbClr val="FC9223"/>
                </a:solidFill>
                <a:latin typeface="Arial Bold"/>
                <a:ea typeface="Arial Bold"/>
                <a:cs typeface="Arial Bold"/>
                <a:sym typeface="Arial Bold"/>
              </a:rPr>
              <a:t>PDS Data Standards</a:t>
            </a:r>
            <a:r>
              <a:rPr lang="en-US" b="true" sz="2004">
                <a:solidFill>
                  <a:srgbClr val="0B2545"/>
                </a:solidFill>
                <a:latin typeface="Arial Bold"/>
                <a:ea typeface="Arial Bold"/>
                <a:cs typeface="Arial Bold"/>
                <a:sym typeface="Arial Bold"/>
              </a:rPr>
              <a:t>: Used to read Chandrayaan-2 and LRO image data.</a:t>
            </a:r>
          </a:p>
          <a:p>
            <a:pPr algn="l" marL="362852" indent="-181426" lvl="1">
              <a:lnSpc>
                <a:spcPts val="2526"/>
              </a:lnSpc>
              <a:buFont typeface="Arial"/>
              <a:buChar char="•"/>
            </a:pPr>
            <a:r>
              <a:rPr lang="en-US" b="true" sz="2004">
                <a:solidFill>
                  <a:srgbClr val="FC9223"/>
                </a:solidFill>
                <a:latin typeface="Arial Bold"/>
                <a:ea typeface="Arial Bold"/>
                <a:cs typeface="Arial Bold"/>
                <a:sym typeface="Arial Bold"/>
              </a:rPr>
              <a:t>NAIF SPICE</a:t>
            </a:r>
            <a:r>
              <a:rPr lang="en-US" b="true" sz="2004">
                <a:solidFill>
                  <a:srgbClr val="0B2545"/>
                </a:solidFill>
                <a:latin typeface="Arial Bold"/>
                <a:ea typeface="Arial Bold"/>
                <a:cs typeface="Arial Bold"/>
                <a:sym typeface="Arial Bold"/>
              </a:rPr>
              <a:t>: Used to obtain accurate Sun/illumination geometry for LRO data.</a:t>
            </a:r>
          </a:p>
          <a:p>
            <a:pPr algn="l" marL="362852" indent="-181426" lvl="1">
              <a:lnSpc>
                <a:spcPts val="2526"/>
              </a:lnSpc>
              <a:buFont typeface="Arial"/>
              <a:buChar char="•"/>
            </a:pPr>
            <a:r>
              <a:rPr lang="en-US" b="true" sz="2004">
                <a:solidFill>
                  <a:srgbClr val="FC9223"/>
                </a:solidFill>
                <a:latin typeface="Arial Bold"/>
                <a:ea typeface="Arial Bold"/>
                <a:cs typeface="Arial Bold"/>
                <a:sym typeface="Arial Bold"/>
              </a:rPr>
              <a:t>ISIS Control Network:</a:t>
            </a:r>
            <a:r>
              <a:rPr lang="en-US" b="true" sz="2004">
                <a:solidFill>
                  <a:srgbClr val="0B2545"/>
                </a:solidFill>
                <a:latin typeface="Arial Bold"/>
                <a:ea typeface="Arial Bold"/>
                <a:cs typeface="Arial Bold"/>
                <a:sym typeface="Arial Bold"/>
              </a:rPr>
              <a:t> Used as the output format for integration with the existing photogrammetry workflow.</a:t>
            </a:r>
          </a:p>
        </p:txBody>
      </p:sp>
      <p:grpSp>
        <p:nvGrpSpPr>
          <p:cNvPr name="Group 55" id="55"/>
          <p:cNvGrpSpPr/>
          <p:nvPr/>
        </p:nvGrpSpPr>
        <p:grpSpPr>
          <a:xfrm rot="0">
            <a:off x="589788" y="4195489"/>
            <a:ext cx="17327423" cy="493776"/>
            <a:chOff x="0" y="0"/>
            <a:chExt cx="23103230" cy="658368"/>
          </a:xfrm>
        </p:grpSpPr>
        <p:sp>
          <p:nvSpPr>
            <p:cNvPr name="Freeform 56" id="56"/>
            <p:cNvSpPr/>
            <p:nvPr/>
          </p:nvSpPr>
          <p:spPr>
            <a:xfrm flipH="false" flipV="false" rot="0">
              <a:off x="0" y="0"/>
              <a:ext cx="23103204" cy="658368"/>
            </a:xfrm>
            <a:custGeom>
              <a:avLst/>
              <a:gdLst/>
              <a:ahLst/>
              <a:cxnLst/>
              <a:rect r="r" b="b" t="t" l="l"/>
              <a:pathLst>
                <a:path h="658368" w="23103204">
                  <a:moveTo>
                    <a:pt x="0" y="128016"/>
                  </a:moveTo>
                  <a:cubicBezTo>
                    <a:pt x="0" y="57277"/>
                    <a:pt x="57277" y="0"/>
                    <a:pt x="128016" y="0"/>
                  </a:cubicBezTo>
                  <a:lnTo>
                    <a:pt x="22975188" y="0"/>
                  </a:lnTo>
                  <a:cubicBezTo>
                    <a:pt x="23045927" y="0"/>
                    <a:pt x="23103204" y="57277"/>
                    <a:pt x="23103204" y="128016"/>
                  </a:cubicBezTo>
                  <a:lnTo>
                    <a:pt x="23103204" y="530352"/>
                  </a:lnTo>
                  <a:cubicBezTo>
                    <a:pt x="23103204" y="601091"/>
                    <a:pt x="23045927" y="658368"/>
                    <a:pt x="22975188" y="658368"/>
                  </a:cubicBezTo>
                  <a:lnTo>
                    <a:pt x="128016" y="658368"/>
                  </a:lnTo>
                  <a:cubicBezTo>
                    <a:pt x="57277" y="658368"/>
                    <a:pt x="0" y="601091"/>
                    <a:pt x="0" y="530352"/>
                  </a:cubicBezTo>
                  <a:close/>
                </a:path>
              </a:pathLst>
            </a:custGeom>
            <a:solidFill>
              <a:srgbClr val="0B2545"/>
            </a:solidFill>
          </p:spPr>
        </p:sp>
      </p:grpSp>
      <p:grpSp>
        <p:nvGrpSpPr>
          <p:cNvPr name="Group 57" id="57"/>
          <p:cNvGrpSpPr/>
          <p:nvPr/>
        </p:nvGrpSpPr>
        <p:grpSpPr>
          <a:xfrm rot="0">
            <a:off x="677113" y="4195489"/>
            <a:ext cx="16696487" cy="493776"/>
            <a:chOff x="0" y="0"/>
            <a:chExt cx="22261982" cy="658368"/>
          </a:xfrm>
        </p:grpSpPr>
        <p:sp>
          <p:nvSpPr>
            <p:cNvPr name="Freeform 58" id="58"/>
            <p:cNvSpPr/>
            <p:nvPr/>
          </p:nvSpPr>
          <p:spPr>
            <a:xfrm flipH="false" flipV="false" rot="0">
              <a:off x="0" y="0"/>
              <a:ext cx="22261982" cy="658368"/>
            </a:xfrm>
            <a:custGeom>
              <a:avLst/>
              <a:gdLst/>
              <a:ahLst/>
              <a:cxnLst/>
              <a:rect r="r" b="b" t="t" l="l"/>
              <a:pathLst>
                <a:path h="658368" w="22261982">
                  <a:moveTo>
                    <a:pt x="0" y="0"/>
                  </a:moveTo>
                  <a:lnTo>
                    <a:pt x="22261982" y="0"/>
                  </a:lnTo>
                  <a:lnTo>
                    <a:pt x="22261982" y="658368"/>
                  </a:lnTo>
                  <a:lnTo>
                    <a:pt x="0" y="658368"/>
                  </a:lnTo>
                  <a:close/>
                </a:path>
              </a:pathLst>
            </a:custGeom>
            <a:blipFill>
              <a:blip r:embed="rId2">
                <a:alphaModFix amt="0"/>
              </a:blip>
              <a:stretch>
                <a:fillRect l="0" t="-608864" r="0" b="-608864"/>
              </a:stretch>
            </a:blipFill>
          </p:spPr>
        </p:sp>
        <p:sp>
          <p:nvSpPr>
            <p:cNvPr name="TextBox 59" id="59"/>
            <p:cNvSpPr txBox="true"/>
            <p:nvPr/>
          </p:nvSpPr>
          <p:spPr>
            <a:xfrm>
              <a:off x="0" y="-28575"/>
              <a:ext cx="22261982" cy="686943"/>
            </a:xfrm>
            <a:prstGeom prst="rect">
              <a:avLst/>
            </a:prstGeom>
          </p:spPr>
          <p:txBody>
            <a:bodyPr anchor="ctr" rtlCol="false" tIns="0" lIns="0" bIns="0" rIns="0"/>
            <a:lstStyle/>
            <a:p>
              <a:pPr algn="l">
                <a:lnSpc>
                  <a:spcPts val="2250"/>
                </a:lnSpc>
              </a:pPr>
              <a:r>
                <a:rPr lang="en-US" b="true" sz="1875" spc="75">
                  <a:solidFill>
                    <a:srgbClr val="FFFFFF"/>
                  </a:solidFill>
                  <a:latin typeface="Arial Bold"/>
                  <a:ea typeface="Arial Bold"/>
                  <a:cs typeface="Arial Bold"/>
                  <a:sym typeface="Arial Bold"/>
                </a:rPr>
                <a:t>WHAT WE ADDED</a:t>
              </a:r>
            </a:p>
          </p:txBody>
        </p:sp>
      </p:grpSp>
      <p:grpSp>
        <p:nvGrpSpPr>
          <p:cNvPr name="Group 60" id="60"/>
          <p:cNvGrpSpPr/>
          <p:nvPr/>
        </p:nvGrpSpPr>
        <p:grpSpPr>
          <a:xfrm rot="0">
            <a:off x="570738" y="4681264"/>
            <a:ext cx="17365523" cy="2051006"/>
            <a:chOff x="0" y="0"/>
            <a:chExt cx="22269021" cy="2630148"/>
          </a:xfrm>
        </p:grpSpPr>
        <p:sp>
          <p:nvSpPr>
            <p:cNvPr name="Freeform 61" id="61"/>
            <p:cNvSpPr/>
            <p:nvPr/>
          </p:nvSpPr>
          <p:spPr>
            <a:xfrm flipH="false" flipV="false" rot="0">
              <a:off x="0" y="0"/>
              <a:ext cx="22268996" cy="2630148"/>
            </a:xfrm>
            <a:custGeom>
              <a:avLst/>
              <a:gdLst/>
              <a:ahLst/>
              <a:cxnLst/>
              <a:rect r="r" b="b" t="t" l="l"/>
              <a:pathLst>
                <a:path h="2630148" w="22268996">
                  <a:moveTo>
                    <a:pt x="0" y="83027"/>
                  </a:moveTo>
                  <a:cubicBezTo>
                    <a:pt x="0" y="37219"/>
                    <a:pt x="47689" y="0"/>
                    <a:pt x="106383" y="0"/>
                  </a:cubicBezTo>
                  <a:lnTo>
                    <a:pt x="22162613" y="0"/>
                  </a:lnTo>
                  <a:cubicBezTo>
                    <a:pt x="22221430" y="0"/>
                    <a:pt x="22268996" y="37219"/>
                    <a:pt x="22268996" y="83027"/>
                  </a:cubicBezTo>
                  <a:lnTo>
                    <a:pt x="22268996" y="2547121"/>
                  </a:lnTo>
                  <a:cubicBezTo>
                    <a:pt x="22268996" y="2593024"/>
                    <a:pt x="22221307" y="2630148"/>
                    <a:pt x="22162613" y="2630148"/>
                  </a:cubicBezTo>
                  <a:lnTo>
                    <a:pt x="106383" y="2630148"/>
                  </a:lnTo>
                  <a:cubicBezTo>
                    <a:pt x="47567" y="2630148"/>
                    <a:pt x="0" y="2592929"/>
                    <a:pt x="0" y="2547121"/>
                  </a:cubicBezTo>
                  <a:close/>
                </a:path>
              </a:pathLst>
            </a:custGeom>
            <a:solidFill>
              <a:srgbClr val="EEF3FA"/>
            </a:solidFill>
            <a:ln w="19050" cap="sq">
              <a:solidFill>
                <a:srgbClr val="C9D3DE"/>
              </a:solidFill>
              <a:prstDash val="solid"/>
              <a:miter/>
            </a:ln>
          </p:spPr>
        </p:sp>
      </p:grpSp>
      <p:sp>
        <p:nvSpPr>
          <p:cNvPr name="TextBox 62" id="62"/>
          <p:cNvSpPr txBox="true"/>
          <p:nvPr/>
        </p:nvSpPr>
        <p:spPr>
          <a:xfrm rot="0">
            <a:off x="617725" y="4833023"/>
            <a:ext cx="16915438" cy="2204047"/>
          </a:xfrm>
          <a:prstGeom prst="rect">
            <a:avLst/>
          </a:prstGeom>
        </p:spPr>
        <p:txBody>
          <a:bodyPr anchor="t" rtlCol="false" tIns="0" lIns="0" bIns="0" rIns="0">
            <a:spAutoFit/>
          </a:bodyPr>
          <a:lstStyle/>
          <a:p>
            <a:pPr algn="l" marL="362852" indent="-181426" lvl="1">
              <a:lnSpc>
                <a:spcPts val="2526"/>
              </a:lnSpc>
              <a:buFont typeface="Arial"/>
              <a:buChar char="•"/>
            </a:pPr>
            <a:r>
              <a:rPr lang="en-US" b="true" sz="2004">
                <a:solidFill>
                  <a:srgbClr val="1A1A1A"/>
                </a:solidFill>
                <a:latin typeface="Arial Bold"/>
                <a:ea typeface="Arial Bold"/>
                <a:cs typeface="Arial Bold"/>
                <a:sym typeface="Arial Bold"/>
              </a:rPr>
              <a:t>Comp</a:t>
            </a:r>
            <a:r>
              <a:rPr lang="en-US" b="true" sz="2004">
                <a:solidFill>
                  <a:srgbClr val="1A1A1A"/>
                </a:solidFill>
                <a:latin typeface="Arial Bold"/>
                <a:ea typeface="Arial Bold"/>
                <a:cs typeface="Arial Bold"/>
                <a:sym typeface="Arial Bold"/>
              </a:rPr>
              <a:t>ared SIFT, Mod-π and LightGlue under different Sun-angle conditions.</a:t>
            </a:r>
          </a:p>
          <a:p>
            <a:pPr algn="l" marL="362852" indent="-181426" lvl="1">
              <a:lnSpc>
                <a:spcPts val="2526"/>
              </a:lnSpc>
              <a:buFont typeface="Arial"/>
              <a:buChar char="•"/>
            </a:pPr>
            <a:r>
              <a:rPr lang="en-US" b="true" sz="2004">
                <a:solidFill>
                  <a:srgbClr val="1A1A1A"/>
                </a:solidFill>
                <a:latin typeface="Arial Bold"/>
                <a:ea typeface="Arial Bold"/>
                <a:cs typeface="Arial Bold"/>
                <a:sym typeface="Arial Bold"/>
              </a:rPr>
              <a:t>Added automatic scale alignment before matching.</a:t>
            </a:r>
          </a:p>
          <a:p>
            <a:pPr algn="l" marL="362852" indent="-181426" lvl="1">
              <a:lnSpc>
                <a:spcPts val="2526"/>
              </a:lnSpc>
              <a:buFont typeface="Arial"/>
              <a:buChar char="•"/>
            </a:pPr>
            <a:r>
              <a:rPr lang="en-US" b="true" sz="2004">
                <a:solidFill>
                  <a:srgbClr val="1A1A1A"/>
                </a:solidFill>
                <a:latin typeface="Arial Bold"/>
                <a:ea typeface="Arial Bold"/>
                <a:cs typeface="Arial Bold"/>
                <a:sym typeface="Arial Bold"/>
              </a:rPr>
              <a:t>Added MAGSAC-based wrong-match removal.</a:t>
            </a:r>
          </a:p>
          <a:p>
            <a:pPr algn="l" marL="362852" indent="-181426" lvl="1">
              <a:lnSpc>
                <a:spcPts val="2526"/>
              </a:lnSpc>
              <a:buFont typeface="Arial"/>
              <a:buChar char="•"/>
            </a:pPr>
            <a:r>
              <a:rPr lang="en-US" b="true" sz="2004">
                <a:solidFill>
                  <a:srgbClr val="1A1A1A"/>
                </a:solidFill>
                <a:latin typeface="Arial Bold"/>
                <a:ea typeface="Arial Bold"/>
                <a:cs typeface="Arial Bold"/>
                <a:sym typeface="Arial Bold"/>
              </a:rPr>
              <a:t>Added sub-pixel refinement and coverage checking.</a:t>
            </a:r>
          </a:p>
          <a:p>
            <a:pPr algn="l" marL="362852" indent="-181426" lvl="1">
              <a:lnSpc>
                <a:spcPts val="2526"/>
              </a:lnSpc>
              <a:buFont typeface="Arial"/>
              <a:buChar char="•"/>
            </a:pPr>
            <a:r>
              <a:rPr lang="en-US" b="true" sz="2004">
                <a:solidFill>
                  <a:srgbClr val="1A1A1A"/>
                </a:solidFill>
                <a:latin typeface="Arial Bold"/>
                <a:ea typeface="Arial Bold"/>
                <a:cs typeface="Arial Bold"/>
                <a:sym typeface="Arial Bold"/>
              </a:rPr>
              <a:t>Added result-trust verification to flag unreliable registrations.</a:t>
            </a:r>
          </a:p>
          <a:p>
            <a:pPr algn="l" marL="362852" indent="-181426" lvl="1">
              <a:lnSpc>
                <a:spcPts val="2526"/>
              </a:lnSpc>
              <a:buFont typeface="Arial"/>
              <a:buChar char="•"/>
            </a:pPr>
            <a:r>
              <a:rPr lang="en-US" b="true" sz="2004">
                <a:solidFill>
                  <a:srgbClr val="1A1A1A"/>
                </a:solidFill>
                <a:latin typeface="Arial Bold"/>
                <a:ea typeface="Arial Bold"/>
                <a:cs typeface="Arial Bold"/>
                <a:sym typeface="Arial Bold"/>
              </a:rPr>
              <a:t>Exported verified matches in ISIS-compatible format.</a:t>
            </a:r>
          </a:p>
          <a:p>
            <a:pPr algn="l">
              <a:lnSpc>
                <a:spcPts val="2526"/>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DAHUNEN_TBQ</dc:identifier>
  <dcterms:modified xsi:type="dcterms:W3CDTF">2011-08-01T06:04:30Z</dcterms:modified>
  <cp:revision>1</cp:revision>
  <dc:title>SIH PPT</dc:title>
</cp:coreProperties>
</file>